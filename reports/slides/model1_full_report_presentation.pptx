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7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3333333" cy="7500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Master" Target="slideMasters/slideMaster1.xml"/><Relationship Id="rId18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png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0000" y="520000"/>
            <a:ext cx="12100000" cy="8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3000" b="1"/>
              <a:t>Logistic Regression 기반 주가 방향 예측 분석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900000" y="1640000"/>
            <a:ext cx="115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100" b="1"/>
              <a:t>발표 흐름</a:t>
            </a:r>
          </a:p>
          <a:p>
            <a:r>
              <a:rPr lang="ko-KR" sz="2100"/>
              <a:t>1. 데이터셋 구성과 주요 피처</a:t>
            </a:r>
          </a:p>
          <a:p>
            <a:r>
              <a:rPr lang="ko-KR" sz="2100"/>
              <a:t>2. 데이터 특성 및 변수 간 상관관계</a:t>
            </a:r>
          </a:p>
          <a:p>
            <a:r>
              <a:rPr lang="ko-KR" sz="2100"/>
              <a:t>3. 주가-검색량 시계열 관계</a:t>
            </a:r>
          </a:p>
          <a:p>
            <a:r>
              <a:rPr lang="ko-KR" sz="2100"/>
              <a:t>4. Logistic Regression 실험 설계와 성능 평가</a:t>
            </a:r>
          </a:p>
          <a:p>
            <a:r>
              <a:rPr lang="ko-KR" sz="2100"/>
              <a:t>5. 피처 중요도 기반 심리학적 해석</a:t>
            </a:r>
          </a:p>
          <a:p>
            <a:r>
              <a:rPr lang="ko-KR" sz="2100"/>
              <a:t>6. 모델 개선 실험과 최종 결론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30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데이터셋 구성</a:t>
            </a:r>
          </a:p>
        </p:txBody>
      </p:sp>
      <p:sp>
        <p:nvSpPr>
          <p:cNvPr id="3" name="Dataset"/>
          <p:cNvSpPr txBox="1"/>
          <p:nvPr/>
        </p:nvSpPr>
        <p:spPr>
          <a:xfrm>
            <a:off x="760000" y="1140000"/>
            <a:ext cx="11900000" cy="5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100"/>
              <a:t>분석 대상: 국내 주요 6개 기업</a:t>
            </a:r>
          </a:p>
          <a:p>
            <a:r>
              <a:rPr lang="ko-KR" sz="2100"/>
              <a:t>분석 기간: 2025-06-10 ~ 2026-05-11</a:t>
            </a:r>
          </a:p>
          <a:p>
            <a:r>
              <a:rPr lang="ko-KR" sz="2100"/>
              <a:t>전체 표본 수: 1,344개</a:t>
            </a:r>
          </a:p>
          <a:p>
            <a:r>
              <a:rPr lang="ko-KR" sz="2100"/>
              <a:t>데이터 분할: Train 914개, Validation 196개, Test 197개</a:t>
            </a:r>
          </a:p>
          <a:p>
            <a:r>
              <a:rPr lang="ko-KR" sz="2100"/>
              <a:t>예측 목표: 다음 거래일 주가 방향 예측</a:t>
            </a:r>
          </a:p>
          <a:p>
            <a:r>
              <a:rPr lang="ko-KR" sz="2100"/>
              <a:t>Target: 0 = 하락 또는 상승 아님, 1 = 상승</a:t>
            </a:r>
          </a:p>
          <a:p>
            <a:r>
              <a:rPr lang="ko-KR" sz="2100"/>
              <a:t>데이터 출처: 프로젝트 수집 주가 데이터 + Google Trends 검색량 데이터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30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주요 피처 구성</a:t>
            </a:r>
          </a:p>
        </p:txBody>
      </p:sp>
      <p:sp>
        <p:nvSpPr>
          <p:cNvPr id="3" name="Features"/>
          <p:cNvSpPr txBox="1"/>
          <p:nvPr/>
        </p:nvSpPr>
        <p:spPr>
          <a:xfrm>
            <a:off x="760000" y="1160000"/>
            <a:ext cx="11900000" cy="5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000" b="1"/>
              <a:t>주가 기반 피처</a:t>
            </a:r>
          </a:p>
          <a:p>
            <a:r>
              <a:rPr lang="ko-KR" sz="2000"/>
              <a:t>Open, High, Low, Close, Volume</a:t>
            </a:r>
          </a:p>
          <a:p>
            <a:r>
              <a:rPr lang="ko-KR" sz="2000"/>
              <a:t>return_lag1, return_lag3_mean, ma5_gap, ma20_gap, volatility_7</a:t>
            </a:r>
          </a:p>
          <a:p>
            <a:r>
              <a:rPr lang="ko-KR" sz="2000"/>
              <a:t/>
            </a:r>
          </a:p>
          <a:p>
            <a:r>
              <a:rPr lang="ko-KR" sz="2000"/>
              <a:t>검색 트렌드 기반 피처</a:t>
            </a:r>
          </a:p>
          <a:p>
            <a:r>
              <a:rPr lang="ko-KR" sz="2000"/>
              <a:t>trend_kor, trend_glb, weighted_trend</a:t>
            </a:r>
          </a:p>
          <a:p>
            <a:r>
              <a:rPr lang="ko-KR" sz="2000"/>
              <a:t>trend_lag1, trend_lag3_mean, trend_lag7_mean, trend_change</a:t>
            </a:r>
          </a:p>
          <a:p>
            <a:r>
              <a:rPr lang="ko-KR" sz="2000"/>
              <a:t/>
            </a:r>
          </a:p>
          <a:p>
            <a:r>
              <a:rPr lang="ko-KR" sz="2000"/>
              <a:t>핵심 아이디어: 가격 흐름 + 투자자 검색 관심도를 함께 사용해 다음 거래일 방향을 예측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60000" y="260000"/>
            <a:ext cx="125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데이터 특성 시각화</a:t>
            </a:r>
          </a:p>
        </p:txBody>
      </p:sp>
      <p:pic>
        <p:nvPicPr>
          <p:cNvPr id="3" name="EDA distribu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00" y="940000"/>
            <a:ext cx="7250000" cy="5770000"/>
          </a:xfrm>
          <a:prstGeom prst="rect">
            <a:avLst/>
          </a:prstGeom>
        </p:spPr>
      </p:pic>
      <p:sp>
        <p:nvSpPr>
          <p:cNvPr id="4" name="Notes"/>
          <p:cNvSpPr txBox="1"/>
          <p:nvPr/>
        </p:nvSpPr>
        <p:spPr>
          <a:xfrm>
            <a:off x="8050000" y="1120000"/>
            <a:ext cx="4700000" cy="4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700" b="1"/>
              <a:t>발표 포인트</a:t>
            </a:r>
          </a:p>
          <a:p>
            <a:r>
              <a:rPr lang="ko-KR" sz="1700"/>
              <a:t>상승 클래스가 약간 많지만 극단적 불균형은 아님</a:t>
            </a:r>
          </a:p>
          <a:p>
            <a:r>
              <a:rPr lang="ko-KR" sz="1700"/>
              <a:t>기업별 상승/하락 비율 차이가 존재</a:t>
            </a:r>
          </a:p>
          <a:p>
            <a:r>
              <a:rPr lang="ko-KR" sz="1700"/>
              <a:t>class_weight='balanced'로 클래스 편향 완화</a:t>
            </a:r>
          </a:p>
          <a:p>
            <a:r>
              <a:rPr lang="ko-KR" sz="1700"/>
              <a:t>검색량과 수익률만으로 클래스가 뚜렷하게 분리되지는 않음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60000" y="260000"/>
            <a:ext cx="125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변수 간 상관관계 히트맵</a:t>
            </a:r>
          </a:p>
        </p:txBody>
      </p:sp>
      <p:pic>
        <p:nvPicPr>
          <p:cNvPr id="3" name="Feature correlation heat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00" y="960000"/>
            <a:ext cx="6700000" cy="5600000"/>
          </a:xfrm>
          <a:prstGeom prst="rect">
            <a:avLst/>
          </a:prstGeom>
        </p:spPr>
      </p:pic>
      <p:sp>
        <p:nvSpPr>
          <p:cNvPr id="4" name="Notes"/>
          <p:cNvSpPr txBox="1"/>
          <p:nvPr/>
        </p:nvSpPr>
        <p:spPr>
          <a:xfrm>
            <a:off x="7650000" y="1060000"/>
            <a:ext cx="5030000" cy="49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700" b="1"/>
              <a:t>해석</a:t>
            </a:r>
          </a:p>
          <a:p>
            <a:r>
              <a:rPr lang="ko-KR" sz="1700"/>
              <a:t>target과 개별 feature의 선형 상관관계는 전반적으로 낮음</a:t>
            </a:r>
          </a:p>
          <a:p>
            <a:r>
              <a:rPr lang="ko-KR" sz="1700"/>
              <a:t>weighted_trend와 target: 약 -0.07</a:t>
            </a:r>
          </a:p>
          <a:p>
            <a:r>
              <a:rPr lang="ko-KR" sz="1700"/>
              <a:t>return_lag1과 target: 약 -0.06</a:t>
            </a:r>
          </a:p>
          <a:p>
            <a:r>
              <a:rPr lang="ko-KR" sz="1700"/>
              <a:t>단일 변수만으로 주가 방향을 명확히 설명하기 어려움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60000" y="260000"/>
            <a:ext cx="125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주가-검색량 시계열 중첩</a:t>
            </a:r>
          </a:p>
        </p:txBody>
      </p:sp>
      <p:pic>
        <p:nvPicPr>
          <p:cNvPr id="3" name="Stock search overl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00" y="900000"/>
            <a:ext cx="8560000" cy="5980000"/>
          </a:xfrm>
          <a:prstGeom prst="rect">
            <a:avLst/>
          </a:prstGeom>
        </p:spPr>
      </p:pic>
      <p:sp>
        <p:nvSpPr>
          <p:cNvPr id="4" name="Notes"/>
          <p:cNvSpPr txBox="1"/>
          <p:nvPr/>
        </p:nvSpPr>
        <p:spPr>
          <a:xfrm>
            <a:off x="9180000" y="1060000"/>
            <a:ext cx="3900000" cy="51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500" b="1"/>
              <a:t>해석</a:t>
            </a:r>
          </a:p>
          <a:p>
            <a:r>
              <a:rPr lang="ko-KR" sz="1500"/>
              <a:t>Close와 weighted_trend를 기업별 min-max 정규화</a:t>
            </a:r>
          </a:p>
          <a:p>
            <a:r>
              <a:rPr lang="ko-KR" sz="1500"/>
              <a:t>상관계수: 삼성전자 0.13, 한화 0.04, 현대차 -0.02</a:t>
            </a:r>
          </a:p>
          <a:p>
            <a:r>
              <a:rPr lang="ko-KR" sz="1500"/>
              <a:t>네이버 -0.08, LG전자 -0.09, SK하이닉스 -0.51</a:t>
            </a:r>
          </a:p>
          <a:p>
            <a:r>
              <a:rPr lang="ko-KR" sz="1500"/>
              <a:t>검색량은 즉각적인 매수 신호가 아니라 관심/불안/정보 탐색을 함께 반영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30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실험 설계</a:t>
            </a:r>
          </a:p>
        </p:txBody>
      </p:sp>
      <p:sp>
        <p:nvSpPr>
          <p:cNvPr id="3" name="Setup"/>
          <p:cNvSpPr txBox="1"/>
          <p:nvPr/>
        </p:nvSpPr>
        <p:spPr>
          <a:xfrm>
            <a:off x="760000" y="1140000"/>
            <a:ext cx="11900000" cy="5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900"/>
              <a:t>모델: Logistic Regression</a:t>
            </a:r>
          </a:p>
          <a:p>
            <a:r>
              <a:rPr lang="ko-KR" sz="1900"/>
              <a:t>데이터 분할: 시간 순서를 유지한 Train 70%, Validation 15%, Test 15%</a:t>
            </a:r>
          </a:p>
          <a:p>
            <a:r>
              <a:rPr lang="ko-KR" sz="1900"/>
              <a:t>교차 검증: TimeSeriesSplit, 5 folds</a:t>
            </a:r>
          </a:p>
          <a:p>
            <a:r>
              <a:rPr lang="ko-KR" sz="1900"/>
              <a:t>주요 파라미터: max_iter=1000, class_weight='balanced', random_state=42</a:t>
            </a:r>
          </a:p>
          <a:p>
            <a:r>
              <a:rPr lang="ko-KR" sz="1900"/>
              <a:t>하이퍼파라미터 실험: C = [0.001, 0.01, 0.1, 1, 10, 100]</a:t>
            </a:r>
          </a:p>
          <a:p>
            <a:r>
              <a:rPr lang="ko-KR" sz="1900"/>
              <a:t>평가 지표: Accuracy, Precision, Recall, F1 Score, Confusion Matrix, ROC-AUC</a:t>
            </a:r>
          </a:p>
          <a:p>
            <a:r>
              <a:rPr lang="ko-KR" sz="1900"/>
              <a:t>핵심 이유: 시계열 데이터이므로 랜덤 셔플을 피하고 미래 정보 누수를 방지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60000" y="260000"/>
            <a:ext cx="125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시계열 교차 검증 결과</a:t>
            </a:r>
          </a:p>
        </p:txBody>
      </p:sp>
      <p:pic>
        <p:nvPicPr>
          <p:cNvPr id="3" name="CV accurac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00" y="1000000"/>
            <a:ext cx="6300000" cy="5250000"/>
          </a:xfrm>
          <a:prstGeom prst="rect">
            <a:avLst/>
          </a:prstGeom>
        </p:spPr>
      </p:pic>
      <p:sp>
        <p:nvSpPr>
          <p:cNvPr id="4" name="Notes"/>
          <p:cNvSpPr txBox="1"/>
          <p:nvPr/>
        </p:nvSpPr>
        <p:spPr>
          <a:xfrm>
            <a:off x="7420000" y="1080000"/>
            <a:ext cx="4900000" cy="4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700" b="1"/>
              <a:t>결과</a:t>
            </a:r>
          </a:p>
          <a:p>
            <a:r>
              <a:rPr lang="ko-KR" sz="1700"/>
              <a:t>Fold 1: 0.4868</a:t>
            </a:r>
          </a:p>
          <a:p>
            <a:r>
              <a:rPr lang="ko-KR" sz="1700"/>
              <a:t>Fold 2: 0.4934</a:t>
            </a:r>
          </a:p>
          <a:p>
            <a:r>
              <a:rPr lang="ko-KR" sz="1700"/>
              <a:t>Fold 3: 0.4737</a:t>
            </a:r>
          </a:p>
          <a:p>
            <a:r>
              <a:rPr lang="ko-KR" sz="1700"/>
              <a:t>Fold 4: 0.5461</a:t>
            </a:r>
          </a:p>
          <a:p>
            <a:r>
              <a:rPr lang="ko-KR" sz="1700"/>
              <a:t>Fold 5: 0.5066</a:t>
            </a:r>
          </a:p>
          <a:p>
            <a:r>
              <a:rPr lang="ko-KR" sz="1700"/>
              <a:t>교차 검증 평균 정확도: 0.5013</a:t>
            </a:r>
          </a:p>
          <a:p>
            <a:r>
              <a:rPr lang="ko-KR" sz="1700"/>
              <a:t>무작위 예측 수준인 0.5와 거의 유사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60000" y="260000"/>
            <a:ext cx="125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Test Set 성능 및 Confusion Matrix</a:t>
            </a:r>
          </a:p>
        </p:txBody>
      </p:sp>
      <p:pic>
        <p:nvPicPr>
          <p:cNvPr id="3" name="Confusion matri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00" y="1040000"/>
            <a:ext cx="5900000" cy="5150000"/>
          </a:xfrm>
          <a:prstGeom prst="rect">
            <a:avLst/>
          </a:prstGeom>
        </p:spPr>
      </p:pic>
      <p:sp>
        <p:nvSpPr>
          <p:cNvPr id="4" name="Notes"/>
          <p:cNvSpPr txBox="1"/>
          <p:nvPr/>
        </p:nvSpPr>
        <p:spPr>
          <a:xfrm>
            <a:off x="7250000" y="1030000"/>
            <a:ext cx="5100000" cy="50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700" b="1"/>
              <a:t>Baseline Test Set 성능</a:t>
            </a:r>
          </a:p>
          <a:p>
            <a:r>
              <a:rPr lang="ko-KR" sz="1700"/>
              <a:t>Accuracy: 0.4924</a:t>
            </a:r>
          </a:p>
          <a:p>
            <a:r>
              <a:rPr lang="ko-KR" sz="1700"/>
              <a:t>Precision: 0.5333</a:t>
            </a:r>
          </a:p>
          <a:p>
            <a:r>
              <a:rPr lang="ko-KR" sz="1700"/>
              <a:t>Recall: 0.4528</a:t>
            </a:r>
          </a:p>
          <a:p>
            <a:r>
              <a:rPr lang="ko-KR" sz="1700"/>
              <a:t>F1 Score: 0.4898</a:t>
            </a:r>
          </a:p>
          <a:p>
            <a:r>
              <a:rPr lang="ko-KR" sz="1700"/>
              <a:t>ROC-AUC: 0.4857</a:t>
            </a:r>
          </a:p>
          <a:p>
            <a:r>
              <a:rPr lang="ko-KR" sz="1700"/>
              <a:t>실제 상승 106개 중 48개만 맞혀 상승 기회 포착이 약함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60000" y="260000"/>
            <a:ext cx="125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ROC Curve</a:t>
            </a:r>
          </a:p>
        </p:txBody>
      </p:sp>
      <p:pic>
        <p:nvPicPr>
          <p:cNvPr id="3" name="ROC curv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000" y="1020000"/>
            <a:ext cx="5800000" cy="5200000"/>
          </a:xfrm>
          <a:prstGeom prst="rect">
            <a:avLst/>
          </a:prstGeom>
        </p:spPr>
      </p:pic>
      <p:sp>
        <p:nvSpPr>
          <p:cNvPr id="4" name="Notes"/>
          <p:cNvSpPr txBox="1"/>
          <p:nvPr/>
        </p:nvSpPr>
        <p:spPr>
          <a:xfrm>
            <a:off x="7250000" y="1080000"/>
            <a:ext cx="5100000" cy="4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800" b="1"/>
              <a:t>해석</a:t>
            </a:r>
          </a:p>
          <a:p>
            <a:r>
              <a:rPr lang="ko-KR" sz="1800"/>
              <a:t>ROC-AUC: 0.4857</a:t>
            </a:r>
          </a:p>
          <a:p>
            <a:r>
              <a:rPr lang="ko-KR" sz="1800"/>
              <a:t>ROC Curve가 대각선 기준선과 거의 유사</a:t>
            </a:r>
          </a:p>
          <a:p>
            <a:r>
              <a:rPr lang="ko-KR" sz="1800"/>
              <a:t>상승과 하락을 확률적으로 잘 구분하지 못함</a:t>
            </a:r>
          </a:p>
          <a:p>
            <a:r>
              <a:rPr lang="ko-KR" sz="1800"/>
              <a:t>현재 feature와 선형 모델 구조만으로는 예측력이 제한적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60000" y="260000"/>
            <a:ext cx="125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하이퍼파라미터 C 변경 효과</a:t>
            </a:r>
          </a:p>
        </p:txBody>
      </p:sp>
      <p:pic>
        <p:nvPicPr>
          <p:cNvPr id="3" name="Hyperparameter effec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" y="1020000"/>
            <a:ext cx="6350000" cy="5200000"/>
          </a:xfrm>
          <a:prstGeom prst="rect">
            <a:avLst/>
          </a:prstGeom>
        </p:spPr>
      </p:pic>
      <p:sp>
        <p:nvSpPr>
          <p:cNvPr id="4" name="Notes"/>
          <p:cNvSpPr txBox="1"/>
          <p:nvPr/>
        </p:nvSpPr>
        <p:spPr>
          <a:xfrm>
            <a:off x="7400000" y="1080000"/>
            <a:ext cx="4900000" cy="4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700" b="1"/>
              <a:t>해석</a:t>
            </a:r>
          </a:p>
          <a:p>
            <a:r>
              <a:rPr lang="ko-KR" sz="1700"/>
              <a:t>가장 높은 Validation Accuracy와 ROC-AUC는 C=0.001에서 확인</a:t>
            </a:r>
          </a:p>
          <a:p>
            <a:r>
              <a:rPr lang="ko-KR" sz="1700"/>
              <a:t>Validation Accuracy: 0.5153</a:t>
            </a:r>
          </a:p>
          <a:p>
            <a:r>
              <a:rPr lang="ko-KR" sz="1700"/>
              <a:t>Validation ROC-AUC: 0.5316</a:t>
            </a:r>
          </a:p>
          <a:p>
            <a:r>
              <a:rPr lang="ko-KR" sz="1700"/>
              <a:t>하지만 전체적으로 0.5 근처라 C 조정만으로는 큰 개선이 어려움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60000" y="260000"/>
            <a:ext cx="125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피처 중요도와 모델 해석</a:t>
            </a:r>
          </a:p>
        </p:txBody>
      </p:sp>
      <p:pic>
        <p:nvPicPr>
          <p:cNvPr id="3" name="Coefficien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00" y="1000000"/>
            <a:ext cx="6100000" cy="5350000"/>
          </a:xfrm>
          <a:prstGeom prst="rect">
            <a:avLst/>
          </a:prstGeom>
        </p:spPr>
      </p:pic>
      <p:sp>
        <p:nvSpPr>
          <p:cNvPr id="4" name="Notes"/>
          <p:cNvSpPr txBox="1"/>
          <p:nvPr/>
        </p:nvSpPr>
        <p:spPr>
          <a:xfrm>
            <a:off x="7050000" y="1000000"/>
            <a:ext cx="5500000" cy="51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600" b="1"/>
              <a:t>중요 feature</a:t>
            </a:r>
          </a:p>
          <a:p>
            <a:r>
              <a:rPr lang="ko-KR" sz="1600"/>
              <a:t>trend_lag3_mean, Open, weighted_trend, Close, ma20, trend_lag1</a:t>
            </a:r>
          </a:p>
          <a:p>
            <a:r>
              <a:rPr lang="ko-KR" sz="1600"/>
              <a:t>검색 트렌드 정보가 모델 판단에 사용됨</a:t>
            </a:r>
          </a:p>
          <a:p>
            <a:r>
              <a:rPr lang="ko-KR" sz="1600"/>
              <a:t>하지만 실제 성능 향상으로 충분히 이어지지는 않음</a:t>
            </a:r>
          </a:p>
          <a:p>
            <a:r>
              <a:rPr lang="ko-KR" sz="1600"/>
              <a:t>검색량 변수는 단독 예측 신호보다는 심리/관심도 보조 지표로 해석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300000"/>
            <a:ext cx="123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피처 중요도 기반 심리학적 해석</a:t>
            </a:r>
          </a:p>
        </p:txBody>
      </p:sp>
      <p:sp>
        <p:nvSpPr>
          <p:cNvPr id="3" name="Psychology"/>
          <p:cNvSpPr txBox="1"/>
          <p:nvPr/>
        </p:nvSpPr>
        <p:spPr>
          <a:xfrm>
            <a:off x="760000" y="1120000"/>
            <a:ext cx="11900000" cy="5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000"/>
              <a:t>검색 트렌드 변수는 투자자의 정보 탐색 행동과 시장 관심도를 나타내는 대리 변수</a:t>
            </a:r>
          </a:p>
          <a:p>
            <a:r>
              <a:rPr lang="ko-KR" sz="2000"/>
              <a:t>weighted_trend는 국내/글로벌 관심과 외국인 비중을 함께 반영한 심리 지표</a:t>
            </a:r>
          </a:p>
          <a:p>
            <a:r>
              <a:rPr lang="ko-KR" sz="2000"/>
              <a:t>trend_lag1, trend_lag3_mean은 이슈 인지 후 판단과 매매 행동까지의 시간 지연을 시사</a:t>
            </a:r>
          </a:p>
          <a:p>
            <a:r>
              <a:rPr lang="ko-KR" sz="2000"/>
              <a:t>Open, Close, ma20은 실제 매매 결과와 가격 추세를 반영</a:t>
            </a:r>
          </a:p>
          <a:p>
            <a:r>
              <a:rPr lang="ko-KR" sz="2000"/>
              <a:t>검색량 증가는 긍정적 기대와 부정적 불안을 모두 포함</a:t>
            </a:r>
          </a:p>
          <a:p>
            <a:r>
              <a:rPr lang="ko-KR" sz="2000"/>
              <a:t>따라서 뉴스 감성, 금리, 환율, 시장 지수 등 외부 변수와 함께 해석해야 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60000" y="260000"/>
            <a:ext cx="125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예측 확률 분포와 Learning Curve</a:t>
            </a:r>
          </a:p>
        </p:txBody>
      </p:sp>
      <p:pic>
        <p:nvPicPr>
          <p:cNvPr id="3" name="Probability distribu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00" y="1030000"/>
            <a:ext cx="5650000" cy="4950000"/>
          </a:xfrm>
          <a:prstGeom prst="rect">
            <a:avLst/>
          </a:prstGeom>
        </p:spPr>
      </p:pic>
      <p:pic>
        <p:nvPicPr>
          <p:cNvPr id="4" name="Learning curv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000" y="1030000"/>
            <a:ext cx="5650000" cy="4950000"/>
          </a:xfrm>
          <a:prstGeom prst="rect">
            <a:avLst/>
          </a:prstGeom>
        </p:spPr>
      </p:pic>
      <p:sp>
        <p:nvSpPr>
          <p:cNvPr id="5" name="Notes"/>
          <p:cNvSpPr txBox="1"/>
          <p:nvPr/>
        </p:nvSpPr>
        <p:spPr>
          <a:xfrm>
            <a:off x="900000" y="6150000"/>
            <a:ext cx="11600000" cy="5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600"/>
              <a:t>확률 분포가 실제 0/1을 명확히 나누지 못하고, Learning Curve도 언더피팅 성격을 보여준다.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60000" y="260000"/>
            <a:ext cx="125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단계적 성능 개선 실험</a:t>
            </a:r>
          </a:p>
        </p:txBody>
      </p:sp>
      <p:pic>
        <p:nvPicPr>
          <p:cNvPr id="3" name="Metric compari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000000"/>
            <a:ext cx="6750000" cy="5450000"/>
          </a:xfrm>
          <a:prstGeom prst="rect">
            <a:avLst/>
          </a:prstGeom>
        </p:spPr>
      </p:pic>
      <p:sp>
        <p:nvSpPr>
          <p:cNvPr id="4" name="Notes"/>
          <p:cNvSpPr txBox="1"/>
          <p:nvPr/>
        </p:nvSpPr>
        <p:spPr>
          <a:xfrm>
            <a:off x="7650000" y="1040000"/>
            <a:ext cx="4900000" cy="49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600" b="1"/>
              <a:t>Step 2가 가장 균형적인 개선안</a:t>
            </a:r>
          </a:p>
          <a:p>
            <a:r>
              <a:rPr lang="ko-KR" sz="1600"/>
              <a:t>설정: SelectKBest top12 + C=0.001 + class_weight=balanced</a:t>
            </a:r>
          </a:p>
          <a:p>
            <a:r>
              <a:rPr lang="ko-KR" sz="1600"/>
              <a:t>Step 2 Test Accuracy: 0.5431</a:t>
            </a:r>
          </a:p>
          <a:p>
            <a:r>
              <a:rPr lang="ko-KR" sz="1600"/>
              <a:t>Precision: 0.5889, Recall: 0.5000</a:t>
            </a:r>
          </a:p>
          <a:p>
            <a:r>
              <a:rPr lang="ko-KR" sz="1600"/>
              <a:t>F1 Score: 0.5408, ROC-AUC: 0.5180</a:t>
            </a:r>
          </a:p>
          <a:p>
            <a:r>
              <a:rPr lang="ko-KR" sz="1600"/>
              <a:t>주의: 0.5013은 baseline 교차검증 평균, 0.5431은 개선 모델 Test Set 결과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60000" y="260000"/>
            <a:ext cx="125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최종 결론 및 후속 개선 방향</a:t>
            </a:r>
          </a:p>
        </p:txBody>
      </p:sp>
      <p:pic>
        <p:nvPicPr>
          <p:cNvPr id="3" name="Stepwise confusion matri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060000"/>
            <a:ext cx="6620000" cy="5180000"/>
          </a:xfrm>
          <a:prstGeom prst="rect">
            <a:avLst/>
          </a:prstGeom>
        </p:spPr>
      </p:pic>
      <p:sp>
        <p:nvSpPr>
          <p:cNvPr id="4" name="Notes"/>
          <p:cNvSpPr txBox="1"/>
          <p:nvPr/>
        </p:nvSpPr>
        <p:spPr>
          <a:xfrm>
            <a:off x="7520000" y="1020000"/>
            <a:ext cx="5060000" cy="528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600" b="1"/>
              <a:t>최종 결론</a:t>
            </a:r>
          </a:p>
          <a:p>
            <a:r>
              <a:rPr lang="ko-KR" sz="1600"/>
              <a:t>Logistic Regression은 해석 가능한 baseline 모델로는 의미가 있음</a:t>
            </a:r>
          </a:p>
          <a:p>
            <a:r>
              <a:rPr lang="ko-KR" sz="1600"/>
              <a:t>하지만 최종 예측 모델로 사용하기에는 성능 한계가 큼</a:t>
            </a:r>
          </a:p>
          <a:p>
            <a:r>
              <a:rPr lang="ko-KR" sz="1600"/>
              <a:t>검색량은 투자자 심리 신호로 활용 가능하지만 단독 설명력은 제한적</a:t>
            </a:r>
          </a:p>
          <a:p>
            <a:r>
              <a:rPr lang="ko-KR" sz="1600"/>
              <a:t>후속 개선: Random Forest, XGBoost 등 비선형 모델 적용</a:t>
            </a:r>
          </a:p>
          <a:p>
            <a:r>
              <a:rPr lang="ko-KR" sz="1600"/>
              <a:t>외부 변수 추가: 뉴스 감성, 시장 지수, 환율, 금리, 업종 지수, 실적 발표 여부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">
  <a:themeElements>
    <a:clrScheme name="Simple">
      <a:dk1>
        <a:srgbClr val="111111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F97316"/>
      </a:accent2>
      <a:accent3>
        <a:srgbClr val="16A34A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Simple">
      <a:majorFont>
        <a:latin typeface="Aptos Display"/>
        <a:ea typeface="Malgun Gothic"/>
      </a:majorFont>
      <a:minorFont>
        <a:latin typeface="Aptos"/>
        <a:ea typeface="Malgun Gothic"/>
      </a:minorFont>
    </a:fontScheme>
    <a:fmtScheme name="Simpl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16</Slides>
  <Company>Team_1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변수 간 상관관계 및 데이터 특성 시각화</dc:title>
  <dc:creator>Team_1</dc:creator>
  <cp:lastModifiedBy>Codex</cp:lastModifiedBy>
  <dcterms:created xsi:type="dcterms:W3CDTF">2026-06-01T14:11:18Z</dcterms:created>
  <dcterms:modified xsi:type="dcterms:W3CDTF">2026-06-01T14:11:18Z</dcterms:modified>
</cp:coreProperties>
</file>