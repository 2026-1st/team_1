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slideMaster1.xml"/><Relationship Id="rId1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620000"/>
            <a:ext cx="11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200" b="1"/>
              <a:t>주가 방향 예측 모델 분석 발표자료</a:t>
            </a:r>
          </a:p>
        </p:txBody>
      </p:sp>
      <p:sp>
        <p:nvSpPr>
          <p:cNvPr id="3" name="Overview"/>
          <p:cNvSpPr txBox="1"/>
          <p:nvPr/>
        </p:nvSpPr>
        <p:spPr>
          <a:xfrm>
            <a:off x="900000" y="1900000"/>
            <a:ext cx="11500000" cy="4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900"/>
              <a:t>분석 데이터: 국내 주요 6개 기업 주가 + Google Trends 검색량</a:t>
            </a:r>
          </a:p>
          <a:p>
            <a:r>
              <a:rPr lang="ko-KR" sz="1900"/>
              <a:t>분석 기간: 2025-06-10 ~ 2026-05-11</a:t>
            </a:r>
          </a:p>
          <a:p>
            <a:r>
              <a:rPr lang="ko-KR" sz="1900"/>
              <a:t>관측치: 1,344개, 기업 수: 6개</a:t>
            </a:r>
          </a:p>
          <a:p>
            <a:r>
              <a:rPr lang="ko-KR" sz="1900"/>
              <a:t>1. 피처 중요도 기반 심리학적 분석 및 결론</a:t>
            </a:r>
          </a:p>
          <a:p>
            <a:r>
              <a:rPr lang="ko-KR" sz="1900"/>
              <a:t>2. 주가-검색량 상관관계 시각화 및 시계열 중첩 그래프</a:t>
            </a:r>
          </a:p>
          <a:p>
            <a:r>
              <a:rPr lang="ko-KR" sz="1900"/>
              <a:t>3. 모델 성능 비교 그래프: ROC Curve, 지표 바 차트</a:t>
            </a:r>
          </a:p>
          <a:p>
            <a:r>
              <a:rPr lang="ko-KR" sz="1900"/>
              <a:t>4. 변수 간 상관관계 히트맵 및 데이터 특성 시각화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데이터 특성 시각화</a:t>
            </a:r>
          </a:p>
        </p:txBody>
      </p:sp>
      <p:pic>
        <p:nvPicPr>
          <p:cNvPr id="3" name="EDA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" y="940000"/>
            <a:ext cx="7250000" cy="577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8050000" y="1120000"/>
            <a:ext cx="4700000" cy="4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핵심 해석</a:t>
            </a:r>
          </a:p>
          <a:p>
            <a:r>
              <a:rPr lang="ko-KR" sz="1800"/>
              <a:t>상승/하락 클래스는 극단적으로 불균형하지 않음</a:t>
            </a:r>
          </a:p>
          <a:p>
            <a:r>
              <a:rPr lang="ko-KR" sz="1800"/>
              <a:t>기업별 target 분포 차이가 있어 class_weight 적용 필요</a:t>
            </a:r>
          </a:p>
          <a:p>
            <a:r>
              <a:rPr lang="ko-KR" sz="1800"/>
              <a:t>검색량과 단기 수익률 분포는 클래스 간 분리가 뚜렷하지 않음</a:t>
            </a:r>
          </a:p>
          <a:p>
            <a:r>
              <a:rPr lang="ko-KR" sz="1800"/>
              <a:t>단일 변수만으로 주가 방향을 설명하기 어렵다는 점을 시사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변수 간 상관관계 히트맵</a:t>
            </a:r>
          </a:p>
        </p:txBody>
      </p:sp>
      <p:pic>
        <p:nvPicPr>
          <p:cNvPr id="3" name="Feature correlation heat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0" y="960000"/>
            <a:ext cx="6700000" cy="560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650000" y="1060000"/>
            <a:ext cx="5030000" cy="49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핵심 해석</a:t>
            </a:r>
          </a:p>
          <a:p>
            <a:r>
              <a:rPr lang="ko-KR" sz="1800"/>
              <a:t>target과 주요 feature 간 선형 상관관계는 전반적으로 낮음</a:t>
            </a:r>
          </a:p>
          <a:p>
            <a:r>
              <a:rPr lang="ko-KR" sz="1800"/>
              <a:t>weighted_trend와 target의 상관계수는 약 -0.07 수준</a:t>
            </a:r>
          </a:p>
          <a:p>
            <a:r>
              <a:rPr lang="ko-KR" sz="1800"/>
              <a:t>return_lag1과 target의 상관계수도 약 -0.06 수준</a:t>
            </a:r>
          </a:p>
          <a:p>
            <a:r>
              <a:rPr lang="ko-KR" sz="1800"/>
              <a:t>검색량은 단독 예측 신호보다 심리/관심도 보조 지표로 해석하는 것이 적절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주가-검색량 시계열 중첩</a:t>
            </a:r>
          </a:p>
        </p:txBody>
      </p:sp>
      <p:pic>
        <p:nvPicPr>
          <p:cNvPr id="3" name="Stock search over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" y="920000"/>
            <a:ext cx="8550000" cy="59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9200000" y="1100000"/>
            <a:ext cx="3850000" cy="49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600" b="1"/>
              <a:t>핵심 해석</a:t>
            </a:r>
          </a:p>
          <a:p>
            <a:r>
              <a:rPr lang="ko-KR" sz="1600"/>
              <a:t>Close와 weighted_trend를 기업별 min-max 정규화 후 비교</a:t>
            </a:r>
          </a:p>
          <a:p>
            <a:r>
              <a:rPr lang="ko-KR" sz="1600"/>
              <a:t>대부분 기업의 주가-검색량 상관계수는 낮음</a:t>
            </a:r>
          </a:p>
          <a:p>
            <a:r>
              <a:rPr lang="ko-KR" sz="1600"/>
              <a:t>SK하이닉스는 -0.51로 음의 관계가 두드러짐</a:t>
            </a:r>
          </a:p>
          <a:p>
            <a:r>
              <a:rPr lang="ko-KR" sz="1600"/>
              <a:t>검색량 증가는 호재 관심과 악재 불안을 모두 포함할 수 있음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피처 중요도 기반 심리학적 분석</a:t>
            </a:r>
          </a:p>
        </p:txBody>
      </p:sp>
      <p:pic>
        <p:nvPicPr>
          <p:cNvPr id="3" name="Feature import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" y="1000000"/>
            <a:ext cx="6150000" cy="53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100000" y="1000000"/>
            <a:ext cx="5500000" cy="51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600" b="1"/>
              <a:t>핵심 해석</a:t>
            </a:r>
          </a:p>
          <a:p>
            <a:r>
              <a:rPr lang="ko-KR" sz="1600"/>
              <a:t>weighted_trend, trend_lag1, trend_lag3_mean은 투자자 관심과 정보 탐색 행동을 반영</a:t>
            </a:r>
          </a:p>
          <a:p>
            <a:r>
              <a:rPr lang="ko-KR" sz="1600"/>
              <a:t>지연 검색량 변수는 이슈 인지 후 판단과 매매까지의 시간 지연을 시사</a:t>
            </a:r>
          </a:p>
          <a:p>
            <a:r>
              <a:rPr lang="ko-KR" sz="1600"/>
              <a:t>Open, Close, ma20은 실제 가격 추세와 매매 결과를 반영</a:t>
            </a:r>
          </a:p>
          <a:p>
            <a:r>
              <a:rPr lang="ko-KR" sz="1600"/>
              <a:t>검색량은 긍정적 기대와 부정적 불안을 모두 포함하므로 뉴스 감성, 금리, 환율, 시장 지수와 함께 해석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모델 성능: ROC Curve</a:t>
            </a:r>
          </a:p>
        </p:txBody>
      </p:sp>
      <p:pic>
        <p:nvPicPr>
          <p:cNvPr id="3" name="ROC 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000000"/>
            <a:ext cx="5900000" cy="530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300000" y="1060000"/>
            <a:ext cx="5000000" cy="4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핵심 지표</a:t>
            </a:r>
          </a:p>
          <a:p>
            <a:r>
              <a:rPr lang="ko-KR" sz="1700"/>
              <a:t>Logistic Regression Test Accuracy: 0.4924</a:t>
            </a:r>
          </a:p>
          <a:p>
            <a:r>
              <a:rPr lang="ko-KR" sz="1700"/>
              <a:t>F1 Score: 0.4898</a:t>
            </a:r>
          </a:p>
          <a:p>
            <a:r>
              <a:rPr lang="ko-KR" sz="1700"/>
              <a:t>ROC-AUC: 0.4857</a:t>
            </a:r>
          </a:p>
          <a:p>
            <a:r>
              <a:rPr lang="ko-KR" sz="1700"/>
              <a:t>ROC Curve가 대각선 기준선과 유사하여 상승/하락 확률 구분력이 낮음</a:t>
            </a:r>
          </a:p>
          <a:p>
            <a:r>
              <a:rPr lang="ko-KR" sz="1700"/>
              <a:t>현재 선형 모델과 feature만으로는 안정적 예측에 한계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모델 성능 비교: 지표 바 차트</a:t>
            </a:r>
          </a:p>
        </p:txBody>
      </p:sp>
      <p:pic>
        <p:nvPicPr>
          <p:cNvPr id="3" name="Metric 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000000"/>
            <a:ext cx="6750000" cy="54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650000" y="1040000"/>
            <a:ext cx="4900000" cy="49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핵심 해석</a:t>
            </a:r>
          </a:p>
          <a:p>
            <a:r>
              <a:rPr lang="ko-KR" sz="1700"/>
              <a:t>Step 2: SelectKBest top12 + C=0.001이 가장 균형적</a:t>
            </a:r>
          </a:p>
          <a:p>
            <a:r>
              <a:rPr lang="ko-KR" sz="1700"/>
              <a:t>Step 2 Test Accuracy: 0.5431</a:t>
            </a:r>
          </a:p>
          <a:p>
            <a:r>
              <a:rPr lang="ko-KR" sz="1700"/>
              <a:t>Precision: 0.5889, Recall: 0.5000</a:t>
            </a:r>
          </a:p>
          <a:p>
            <a:r>
              <a:rPr lang="ko-KR" sz="1700"/>
              <a:t>F1 Score: 0.5408, ROC-AUC: 0.5180</a:t>
            </a:r>
          </a:p>
          <a:p>
            <a:r>
              <a:rPr lang="ko-KR" sz="1700"/>
              <a:t>Baseline 교차검증 평균 정확도 0.5013과는 평가 방식이 다른 Test Set 결과</a:t>
            </a:r>
          </a:p>
          <a:p>
            <a:r>
              <a:rPr lang="ko-KR" sz="1700"/>
              <a:t>Baseline 대비 모든 주요 지표가 개선되었지만 절대 성능은 여전히 제한적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최종 결론 및 개선 방향</a:t>
            </a:r>
          </a:p>
        </p:txBody>
      </p:sp>
      <p:pic>
        <p:nvPicPr>
          <p:cNvPr id="3" name="Confusion matr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00" y="1050000"/>
            <a:ext cx="6650000" cy="52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550000" y="1020000"/>
            <a:ext cx="5000000" cy="5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결론</a:t>
            </a:r>
          </a:p>
          <a:p>
            <a:r>
              <a:rPr lang="ko-KR" sz="1700"/>
              <a:t>검색량과 feature importance는 투자자 심리 신호로 활용 가능</a:t>
            </a:r>
          </a:p>
          <a:p>
            <a:r>
              <a:rPr lang="ko-KR" sz="1700"/>
              <a:t>하지만 검색량 단독으로 주가 방향을 안정적으로 설명하기는 어려움</a:t>
            </a:r>
          </a:p>
          <a:p>
            <a:r>
              <a:rPr lang="ko-KR" sz="1700"/>
              <a:t>Logistic Regression은 해석 가능한 baseline으로 의미가 있음</a:t>
            </a:r>
          </a:p>
          <a:p>
            <a:r>
              <a:rPr lang="ko-KR" sz="1700"/>
              <a:t>후속 개선: Random Forest, XGBoost 등 비선형 모델 적용</a:t>
            </a:r>
          </a:p>
          <a:p>
            <a:r>
              <a:rPr lang="ko-KR" sz="1700"/>
              <a:t>외부 변수 추가: 뉴스 감성, 시장 지수, 환율, 금리, 업종 지수, 실적 발표 여부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11111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F97316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  <a:ea typeface="Malgun Gothic"/>
      </a:majorFont>
      <a:minorFont>
        <a:latin typeface="Aptos"/>
        <a:ea typeface="Malgun Gothic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  <Company>Team_1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변수 간 상관관계 및 데이터 특성 시각화</dc:title>
  <dc:creator>Team_1</dc:creator>
  <cp:lastModifiedBy>Codex</cp:lastModifiedBy>
  <dcterms:created xsi:type="dcterms:W3CDTF">2026-06-01T14:08:11Z</dcterms:created>
  <dcterms:modified xsi:type="dcterms:W3CDTF">2026-06-01T14:08:11Z</dcterms:modified>
</cp:coreProperties>
</file>