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3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</p:sldIdLst>
  <p:sldSz cx="13333333" cy="7500000" type="wide"/>
  <p:notesSz cx="6858000" cy="9144000"/>
  <p:defaultTextStyle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Master" Target="slideMasters/slideMaster1.xml"/><Relationship Id="rId24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.png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.png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4.png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5.png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6.png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7.png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8.png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3" Type="http://schemas.openxmlformats.org/officeDocument/2006/relationships/image" Target="../media/image10.png"/>
</Relationships>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1.png"/>
</Relationships>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2.png"/>
</Relationships>
</file>

<file path=ppt/slides/_rels/slide2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_rels/slide2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20000" y="330000"/>
            <a:ext cx="12300000" cy="56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2800" b="1"/>
              <a:t>Logistic Regression 기반 주가 방향 예측 분석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760000" y="1130000"/>
            <a:ext cx="11900000" cy="56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2100" b="1"/>
              <a:t>발표 목표</a:t>
            </a:r>
          </a:p>
          <a:p>
            <a:r>
              <a:rPr lang="ko-KR" sz="2100"/>
              <a:t>주가 데이터와 Google Trends 검색량을 결합해 다음 거래일 주가 방향을 예측한다.</a:t>
            </a:r>
          </a:p>
          <a:p>
            <a:r>
              <a:rPr lang="ko-KR" sz="2100"/>
              <a:t>모델 성능만 제시하는 것이 아니라, 왜 성능이 낮게 나왔는지 데이터와 심리 신호 관점에서 해석한다.</a:t>
            </a:r>
          </a:p>
          <a:p>
            <a:r>
              <a:rPr lang="ko-KR" sz="2100"/>
              <a:t>발표 흐름: 데이터 구성 -&gt; 주요 변수 설명 -&gt; 시각화 해석 -&gt; 모델 결과 -&gt; 심리학적 해석 -&gt; 개선 방향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20000" y="330000"/>
            <a:ext cx="12300000" cy="56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2800" b="1"/>
              <a:t>데이터셋 구성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760000" y="1130000"/>
            <a:ext cx="11900000" cy="56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1900" b="1"/>
              <a:t>데이터셋</a:t>
            </a:r>
          </a:p>
          <a:p>
            <a:r>
              <a:rPr lang="ko-KR" sz="1900"/>
              <a:t>국내 주요 6개 기업의 주가 데이터와 Google Trends 검색량 데이터를 결합했다.</a:t>
            </a:r>
          </a:p>
          <a:p>
            <a:r>
              <a:rPr lang="ko-KR" sz="1900"/>
              <a:t>분석 기간: 2025-06-10 ~ 2026-05-11</a:t>
            </a:r>
          </a:p>
          <a:p>
            <a:r>
              <a:rPr lang="ko-KR" sz="1900"/>
              <a:t>전체 표본 수: 1,344개</a:t>
            </a:r>
          </a:p>
          <a:p>
            <a:r>
              <a:rPr lang="ko-KR" sz="1900"/>
              <a:t>분할: Train 914개, Validation 196개, Test 197개</a:t>
            </a:r>
          </a:p>
          <a:p>
            <a:r>
              <a:rPr lang="ko-KR" sz="1900"/>
              <a:t>예측 목표: 다음 거래일 주가가 상승하면 1, 상승하지 않거나 하락하면 0으로 분류한다.</a:t>
            </a:r>
          </a:p>
          <a:p>
            <a:r>
              <a:rPr lang="ko-KR" sz="1900"/>
              <a:t>주의점: 이 데이터는 시계열이므로 시간 순서를 섞지 않고 학습/검증/테스트를 나누었다.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20000" y="330000"/>
            <a:ext cx="12300000" cy="56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2800" b="1"/>
              <a:t>주가 기반 피처 설명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760000" y="1130000"/>
            <a:ext cx="11900000" cy="56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1800" b="1"/>
              <a:t>주가 기반 피처</a:t>
            </a:r>
          </a:p>
          <a:p>
            <a:r>
              <a:rPr lang="ko-KR" sz="1800"/>
              <a:t>Open, High, Low, Close는 하루 동안의 가격 수준과 가격 위치를 보여준다.</a:t>
            </a:r>
          </a:p>
          <a:p>
            <a:r>
              <a:rPr lang="ko-KR" sz="1800"/>
              <a:t>Volume은 실제 매매 참여 규모를 나타내며, 시장 관심이 실제 거래로 이어졌는지 확인하는 데 중요하다.</a:t>
            </a:r>
          </a:p>
          <a:p>
            <a:r>
              <a:rPr lang="ko-KR" sz="1800"/>
              <a:t>return_lag1은 직전 거래일 수익률, return_lag3_mean은 최근 3일 평균 수익률이다.</a:t>
            </a:r>
          </a:p>
          <a:p>
            <a:r>
              <a:rPr lang="ko-KR" sz="1800"/>
              <a:t>ma5_gap, ma20_gap은 현재 가격이 단기/중기 이동평균 대비 얼마나 위 또는 아래에 있는지 나타낸다.</a:t>
            </a:r>
          </a:p>
          <a:p>
            <a:r>
              <a:rPr lang="ko-KR" sz="1800"/>
              <a:t>volatility_7은 최근 7일 변동성으로, 시장이 불안정한지 안정적인지 보여준다.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20000" y="330000"/>
            <a:ext cx="12300000" cy="56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2800" b="1"/>
              <a:t>검색 트렌드 피처와 weighted_trend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760000" y="1130000"/>
            <a:ext cx="11900000" cy="56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1700" b="1"/>
              <a:t>검색 트렌드 피처</a:t>
            </a:r>
          </a:p>
          <a:p>
            <a:r>
              <a:rPr lang="ko-KR" sz="1700"/>
              <a:t>trend_kor: 국내 Google Trends 검색량을 0~100 범위로 정리한 값이다.</a:t>
            </a:r>
          </a:p>
          <a:p>
            <a:r>
              <a:rPr lang="ko-KR" sz="1700"/>
              <a:t>trend_glb: 글로벌 Google Trends 검색량을 0~100 범위로 정리한 값이다.</a:t>
            </a:r>
          </a:p>
          <a:p>
            <a:r>
              <a:rPr lang="ko-KR" sz="1700"/>
              <a:t>foreign_ratio: 해당 기업 주식에서 외국인 투자자 비중을 반영하기 위한 값이다.</a:t>
            </a:r>
          </a:p>
          <a:p>
            <a:r>
              <a:rPr lang="ko-KR" sz="1700"/>
              <a:t>weighted_trend = foreign_ratio * trend_glb + (1 - foreign_ratio) * trend_kor</a:t>
            </a:r>
          </a:p>
          <a:p>
            <a:r>
              <a:rPr lang="ko-KR" sz="1700"/>
              <a:t>의미: 외국인 비중이 높은 기업은 글로벌 검색 관심을 더 크게 반영하고, 국내 비중이 높은 기업은 국내 검색 관심을 더 크게 반영한다.</a:t>
            </a:r>
          </a:p>
          <a:p>
            <a:r>
              <a:rPr lang="ko-KR" sz="1700"/>
              <a:t>따라서 weighted_trend는 단순 검색량이 아니라 국내/해외 투자자 관심도를 합친 심리 지표로 해석할 수 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20000" y="330000"/>
            <a:ext cx="12300000" cy="56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2800" b="1"/>
              <a:t>지연 검색량 변수의 의미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760000" y="1130000"/>
            <a:ext cx="11900000" cy="56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1800" b="1"/>
              <a:t>trend_lag1, trend_lag3_mean, trend_lag7_mean</a:t>
            </a:r>
          </a:p>
          <a:p>
            <a:r>
              <a:rPr lang="ko-KR" sz="1800"/>
              <a:t>검색량은 주가에 반드시 당일 바로 반영되지 않는다.</a:t>
            </a:r>
          </a:p>
          <a:p>
            <a:r>
              <a:rPr lang="ko-KR" sz="1800"/>
              <a:t>투자자는 뉴스를 보고 검색하고, 정보를 확인한 뒤, 매수/매도 결정을 내린다.</a:t>
            </a:r>
          </a:p>
          <a:p>
            <a:r>
              <a:rPr lang="ko-KR" sz="1800"/>
              <a:t>이 과정에는 시간 지연이 생길 수 있으므로 직전 1일, 최근 3일, 최근 7일 검색량 평균을 사용했다.</a:t>
            </a:r>
          </a:p>
          <a:p>
            <a:r>
              <a:rPr lang="ko-KR" sz="1800"/>
              <a:t>trend_change는 검색량이 갑자기 증가하거나 감소했는지 보는 변수다.</a:t>
            </a:r>
          </a:p>
          <a:p>
            <a:r>
              <a:rPr lang="ko-KR" sz="1800"/>
              <a:t>이 변수들은 투자자의 관심 변화, 불안, 기대감, 이슈 반응을 포착하기 위해 넣었다.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0000" y="230000"/>
            <a:ext cx="12550000" cy="52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2700" b="1"/>
              <a:t>데이터 특성 시각화: 무엇을 봐야 하나?</a:t>
            </a:r>
          </a:p>
        </p:txBody>
      </p:sp>
      <p:pic>
        <p:nvPicPr>
          <p:cNvPr id="3" name="EDA distribu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000" y="930000"/>
            <a:ext cx="7250000" cy="5650000"/>
          </a:xfrm>
          <a:prstGeom prst="rect">
            <a:avLst/>
          </a:prstGeom>
        </p:spPr>
      </p:pic>
      <p:sp>
        <p:nvSpPr>
          <p:cNvPr id="4" name="Explanation"/>
          <p:cNvSpPr txBox="1"/>
          <p:nvPr/>
        </p:nvSpPr>
        <p:spPr>
          <a:xfrm>
            <a:off x="7950000" y="930000"/>
            <a:ext cx="4980000" cy="56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1500" b="1"/>
              <a:t>이미지 해석</a:t>
            </a:r>
          </a:p>
          <a:p>
            <a:r>
              <a:rPr lang="ko-KR" sz="1500"/>
              <a:t>왼쪽 위: target 분포를 보면 상승 클래스가 약간 많지만 극단적인 불균형은 아니다.</a:t>
            </a:r>
          </a:p>
          <a:p>
            <a:r>
              <a:rPr lang="ko-KR" sz="1500"/>
              <a:t>오른쪽 위: 기업별 상승/하락 비율이 완전히 같지 않다.</a:t>
            </a:r>
          </a:p>
          <a:p>
            <a:r>
              <a:rPr lang="ko-KR" sz="1500"/>
              <a:t>왼쪽 아래: weighted_trend 분포가 target 0과 1을 명확히 나누지 못한다.</a:t>
            </a:r>
          </a:p>
          <a:p>
            <a:r>
              <a:rPr lang="ko-KR" sz="1500"/>
              <a:t>오른쪽 아래: return_lag1도 상승/하락 클래스를 깔끔하게 분리하지 못한다.</a:t>
            </a:r>
          </a:p>
          <a:p>
            <a:r>
              <a:rPr lang="ko-KR" sz="1500"/>
              <a:t>결론: 모델이 쉽게 구분할 수 있는 단순한 패턴은 데이터에 강하게 나타나지 않는다.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0000" y="230000"/>
            <a:ext cx="12550000" cy="52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2700" b="1"/>
              <a:t>변수 간 상관관계 히트맵 상세 해석</a:t>
            </a:r>
          </a:p>
        </p:txBody>
      </p:sp>
      <p:pic>
        <p:nvPicPr>
          <p:cNvPr id="3" name="Correlation heatma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000" y="930000"/>
            <a:ext cx="7250000" cy="5650000"/>
          </a:xfrm>
          <a:prstGeom prst="rect">
            <a:avLst/>
          </a:prstGeom>
        </p:spPr>
      </p:pic>
      <p:sp>
        <p:nvSpPr>
          <p:cNvPr id="4" name="Explanation"/>
          <p:cNvSpPr txBox="1"/>
          <p:nvPr/>
        </p:nvSpPr>
        <p:spPr>
          <a:xfrm>
            <a:off x="7950000" y="930000"/>
            <a:ext cx="4980000" cy="56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1500" b="1"/>
              <a:t>이미지 해석</a:t>
            </a:r>
          </a:p>
          <a:p>
            <a:r>
              <a:rPr lang="ko-KR" sz="1500"/>
              <a:t>색이 진할수록 두 변수의 선형 관계가 강하다는 뜻이다.</a:t>
            </a:r>
          </a:p>
          <a:p>
            <a:r>
              <a:rPr lang="ko-KR" sz="1500"/>
              <a:t>target과 weighted_trend의 상관계수는 약 -0.07로 매우 낮다.</a:t>
            </a:r>
          </a:p>
          <a:p>
            <a:r>
              <a:rPr lang="ko-KR" sz="1500"/>
              <a:t>target과 return_lag1의 상관계수도 약 -0.06 수준이다.</a:t>
            </a:r>
          </a:p>
          <a:p>
            <a:r>
              <a:rPr lang="ko-KR" sz="1500"/>
              <a:t>즉, 검색량이나 직전 수익률 하나만 보고 다음 날 상승/하락을 예측하기 어렵다.</a:t>
            </a:r>
          </a:p>
          <a:p>
            <a:r>
              <a:rPr lang="ko-KR" sz="1500"/>
              <a:t>이 결과는 Logistic Regression처럼 선형 관계를 찾는 모델의 성능이 낮게 나올 수 있음을 미리 보여준다.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0000" y="230000"/>
            <a:ext cx="12550000" cy="52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2700" b="1"/>
              <a:t>주가-검색량 시계열 중첩 그래프 상세 해석</a:t>
            </a:r>
          </a:p>
        </p:txBody>
      </p:sp>
      <p:pic>
        <p:nvPicPr>
          <p:cNvPr id="3" name="Stock-search overla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000" y="930000"/>
            <a:ext cx="7250000" cy="5650000"/>
          </a:xfrm>
          <a:prstGeom prst="rect">
            <a:avLst/>
          </a:prstGeom>
        </p:spPr>
      </p:pic>
      <p:sp>
        <p:nvSpPr>
          <p:cNvPr id="4" name="Explanation"/>
          <p:cNvSpPr txBox="1"/>
          <p:nvPr/>
        </p:nvSpPr>
        <p:spPr>
          <a:xfrm>
            <a:off x="7950000" y="930000"/>
            <a:ext cx="4980000" cy="56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1400" b="1"/>
              <a:t>이미지 해석</a:t>
            </a:r>
          </a:p>
          <a:p>
            <a:r>
              <a:rPr lang="ko-KR" sz="1400"/>
              <a:t>파란색은 Close, 주황색은 weighted_trend이며 단위가 달라 기업별 min-max 정규화했다.</a:t>
            </a:r>
          </a:p>
          <a:p>
            <a:r>
              <a:rPr lang="ko-KR" sz="1400"/>
              <a:t>대부분 기업에서 두 선이 안정적으로 같이 움직이지 않는다.</a:t>
            </a:r>
          </a:p>
          <a:p>
            <a:r>
              <a:rPr lang="ko-KR" sz="1400"/>
              <a:t>삼성전자 0.13, 한화 0.04, 현대차 -0.02, 네이버 -0.08, LG전자 -0.09로 상관관계가 낮다.</a:t>
            </a:r>
          </a:p>
          <a:p>
            <a:r>
              <a:rPr lang="ko-KR" sz="1400"/>
              <a:t>SK하이닉스는 -0.51로 음의 상관이 큰데, 검색량이 높았던 구간 이후 주가가 강하게 상승했기 때문이다.</a:t>
            </a:r>
          </a:p>
          <a:p>
            <a:r>
              <a:rPr lang="ko-KR" sz="1400"/>
              <a:t>해석: 검색량 증가는 호재 기대뿐 아니라 악재 불안, 이슈 확인, 단순 관심 증가를 모두 포함한다.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20000" y="330000"/>
            <a:ext cx="12300000" cy="56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2800" b="1"/>
              <a:t>왜 검색량과 주가가 단순히 같이 움직이지 않을까?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760000" y="1130000"/>
            <a:ext cx="11900000" cy="56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1800" b="1"/>
              <a:t>이유 1: 검색량은 방향성이 없다.</a:t>
            </a:r>
          </a:p>
          <a:p>
            <a:r>
              <a:rPr lang="ko-KR" sz="1800"/>
              <a:t>검색량 증가는 좋은 뉴스 때문에 생길 수도 있고, 나쁜 뉴스 때문에 생길 수도 있다.</a:t>
            </a:r>
          </a:p>
          <a:p>
            <a:r>
              <a:rPr lang="ko-KR" sz="1800"/>
              <a:t>이유 2: 검색 후 매매까지 시간 차가 있다.</a:t>
            </a:r>
          </a:p>
          <a:p>
            <a:r>
              <a:rPr lang="ko-KR" sz="1800"/>
              <a:t>투자자는 검색 직후 바로 매매하지 않을 수 있고, 이미 주가가 먼저 움직인 뒤 검색량이 증가할 수도 있다.</a:t>
            </a:r>
          </a:p>
          <a:p>
            <a:r>
              <a:rPr lang="ko-KR" sz="1800"/>
              <a:t>이유 3: 주가는 외부 요인의 영향을 크게 받는다.</a:t>
            </a:r>
          </a:p>
          <a:p>
            <a:r>
              <a:rPr lang="ko-KR" sz="1800"/>
              <a:t>금리, 환율, 시장 지수, 실적 발표, 업종 흐름, 뉴스 감성 등이 함께 작용한다.</a:t>
            </a:r>
          </a:p>
          <a:p>
            <a:r>
              <a:rPr lang="ko-KR" sz="1800"/>
              <a:t>결론: 검색량은 단독 예측 변수보다 투자자 심리를 보완하는 변수로 보는 것이 타당하다.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20000" y="330000"/>
            <a:ext cx="12300000" cy="56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2800" b="1"/>
              <a:t>실험 설계: 왜 이렇게 나누었나?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760000" y="1130000"/>
            <a:ext cx="11900000" cy="56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1800" b="1"/>
              <a:t>모델: Logistic Regression</a:t>
            </a:r>
          </a:p>
          <a:p>
            <a:r>
              <a:rPr lang="ko-KR" sz="1800"/>
              <a:t>선택 이유: 빠르고 해석 가능하며, 계수로 feature 영향 방향을 확인할 수 있어 baseline 모델로 적합하다.</a:t>
            </a:r>
          </a:p>
          <a:p>
            <a:r>
              <a:rPr lang="ko-KR" sz="1800"/>
              <a:t>분할 방식: Train 70%, Validation 15%, Test 15%</a:t>
            </a:r>
          </a:p>
          <a:p>
            <a:r>
              <a:rPr lang="ko-KR" sz="1800"/>
              <a:t>시계열 데이터이므로 랜덤 셔플을 하지 않았다.</a:t>
            </a:r>
          </a:p>
          <a:p>
            <a:r>
              <a:rPr lang="ko-KR" sz="1800"/>
              <a:t>교차 검증: TimeSeriesSplit 5 folds</a:t>
            </a:r>
          </a:p>
          <a:p>
            <a:r>
              <a:rPr lang="ko-KR" sz="1800"/>
              <a:t>각 fold는 과거 데이터를 학습하고 이후 구간을 검증한다.</a:t>
            </a:r>
          </a:p>
          <a:p>
            <a:r>
              <a:rPr lang="ko-KR" sz="1800"/>
              <a:t>이 방식은 미래 정보가 과거 학습에 섞이는 데이터 누수를 줄이기 위한 설정이다.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0000" y="230000"/>
            <a:ext cx="12550000" cy="52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2700" b="1"/>
              <a:t>시계열 교차 검증 결과 상세 해석</a:t>
            </a:r>
          </a:p>
        </p:txBody>
      </p:sp>
      <p:pic>
        <p:nvPicPr>
          <p:cNvPr id="3" name="CV accurac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000" y="930000"/>
            <a:ext cx="7250000" cy="5650000"/>
          </a:xfrm>
          <a:prstGeom prst="rect">
            <a:avLst/>
          </a:prstGeom>
        </p:spPr>
      </p:pic>
      <p:sp>
        <p:nvSpPr>
          <p:cNvPr id="4" name="Explanation"/>
          <p:cNvSpPr txBox="1"/>
          <p:nvPr/>
        </p:nvSpPr>
        <p:spPr>
          <a:xfrm>
            <a:off x="7950000" y="930000"/>
            <a:ext cx="4980000" cy="56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1500" b="1"/>
              <a:t>이미지 해석</a:t>
            </a:r>
          </a:p>
          <a:p>
            <a:r>
              <a:rPr lang="ko-KR" sz="1500"/>
              <a:t>Fold별 정확도는 0.47~0.55 사이에 머문다.</a:t>
            </a:r>
          </a:p>
          <a:p>
            <a:r>
              <a:rPr lang="ko-KR" sz="1500"/>
              <a:t>평균 정확도는 0.5013으로, 무작위 예측 수준인 0.5와 거의 같다.</a:t>
            </a:r>
          </a:p>
          <a:p>
            <a:r>
              <a:rPr lang="ko-KR" sz="1500"/>
              <a:t>Fold 4만 0.5461로 상대적으로 높지만, 전체적으로 안정적인 예측력을 보이지 않는다.</a:t>
            </a:r>
          </a:p>
          <a:p>
            <a:r>
              <a:rPr lang="ko-KR" sz="1500"/>
              <a:t>이 결과는 모델이 특정 기간에서는 조금 맞지만, 전체 시계열에서 반복적으로 통하는 패턴을 잡지 못했다는 뜻이다.</a:t>
            </a:r>
          </a:p>
          <a:p>
            <a:r>
              <a:rPr lang="ko-KR" sz="1500"/>
              <a:t>주의: 0.5013은 baseline 모델의 교차 검증 평균 정확도이다.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0000" y="230000"/>
            <a:ext cx="12550000" cy="52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2700" b="1"/>
              <a:t>Test Set 성능과 Confusion Matrix 상세 해석</a:t>
            </a:r>
          </a:p>
        </p:txBody>
      </p:sp>
      <p:pic>
        <p:nvPicPr>
          <p:cNvPr id="3" name="Confusion matrix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000" y="930000"/>
            <a:ext cx="7250000" cy="5650000"/>
          </a:xfrm>
          <a:prstGeom prst="rect">
            <a:avLst/>
          </a:prstGeom>
        </p:spPr>
      </p:pic>
      <p:sp>
        <p:nvSpPr>
          <p:cNvPr id="4" name="Explanation"/>
          <p:cNvSpPr txBox="1"/>
          <p:nvPr/>
        </p:nvSpPr>
        <p:spPr>
          <a:xfrm>
            <a:off x="7950000" y="930000"/>
            <a:ext cx="4980000" cy="56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1500" b="1"/>
              <a:t>이미지 해석</a:t>
            </a:r>
          </a:p>
          <a:p>
            <a:r>
              <a:rPr lang="ko-KR" sz="1500"/>
              <a:t>Test Accuracy는 0.4924로 무작위 수준보다 낮다.</a:t>
            </a:r>
          </a:p>
          <a:p>
            <a:r>
              <a:rPr lang="ko-KR" sz="1500"/>
              <a:t>실제 하락/비상승 91개 중 49개를 맞히고 42개를 상승으로 잘못 예측했다.</a:t>
            </a:r>
          </a:p>
          <a:p>
            <a:r>
              <a:rPr lang="ko-KR" sz="1500"/>
              <a:t>실제 상승 106개 중 48개만 맞히고 58개를 하락으로 잘못 예측했다.</a:t>
            </a:r>
          </a:p>
          <a:p>
            <a:r>
              <a:rPr lang="ko-KR" sz="1500"/>
              <a:t>Recall이 0.4528로 낮다는 것은 실제 상승 기회를 놓치는 경우가 많다는 뜻이다.</a:t>
            </a:r>
          </a:p>
          <a:p>
            <a:r>
              <a:rPr lang="ko-KR" sz="1500"/>
              <a:t>투자 관점에서는 상승 기회를 놓치는 FN이 많다는 점이 큰 한계다.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0000" y="230000"/>
            <a:ext cx="12550000" cy="52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2700" b="1"/>
              <a:t>ROC Curve 상세 해석</a:t>
            </a:r>
          </a:p>
        </p:txBody>
      </p:sp>
      <p:pic>
        <p:nvPicPr>
          <p:cNvPr id="3" name="ROC curv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000" y="930000"/>
            <a:ext cx="7250000" cy="5650000"/>
          </a:xfrm>
          <a:prstGeom prst="rect">
            <a:avLst/>
          </a:prstGeom>
        </p:spPr>
      </p:pic>
      <p:sp>
        <p:nvSpPr>
          <p:cNvPr id="4" name="Explanation"/>
          <p:cNvSpPr txBox="1"/>
          <p:nvPr/>
        </p:nvSpPr>
        <p:spPr>
          <a:xfrm>
            <a:off x="7950000" y="930000"/>
            <a:ext cx="4980000" cy="56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1500" b="1"/>
              <a:t>이미지 해석</a:t>
            </a:r>
          </a:p>
          <a:p>
            <a:r>
              <a:rPr lang="ko-KR" sz="1500"/>
              <a:t>ROC-AUC는 0.4857이다.</a:t>
            </a:r>
          </a:p>
          <a:p>
            <a:r>
              <a:rPr lang="ko-KR" sz="1500"/>
              <a:t>ROC Curve가 대각선 기준선과 거의 비슷하다.</a:t>
            </a:r>
          </a:p>
          <a:p>
            <a:r>
              <a:rPr lang="ko-KR" sz="1500"/>
              <a:t>대각선은 모델이 상승/하락을 구분하지 못하고 거의 랜덤하게 맞히는 기준선이다.</a:t>
            </a:r>
          </a:p>
          <a:p>
            <a:r>
              <a:rPr lang="ko-KR" sz="1500"/>
              <a:t>따라서 이 모델의 예측 확률은 상승 샘플에 더 높은 점수를 주는 능력이 약하다.</a:t>
            </a:r>
          </a:p>
          <a:p>
            <a:r>
              <a:rPr lang="ko-KR" sz="1500"/>
              <a:t>결론: baseline Logistic Regression만으로는 분류력이 충분하지 않다.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0000" y="230000"/>
            <a:ext cx="12550000" cy="52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2700" b="1"/>
              <a:t>하이퍼파라미터 C 변경 효과 상세 해석</a:t>
            </a:r>
          </a:p>
        </p:txBody>
      </p:sp>
      <p:pic>
        <p:nvPicPr>
          <p:cNvPr id="3" name="Hyperparameter effec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000" y="930000"/>
            <a:ext cx="7250000" cy="5650000"/>
          </a:xfrm>
          <a:prstGeom prst="rect">
            <a:avLst/>
          </a:prstGeom>
        </p:spPr>
      </p:pic>
      <p:sp>
        <p:nvSpPr>
          <p:cNvPr id="4" name="Explanation"/>
          <p:cNvSpPr txBox="1"/>
          <p:nvPr/>
        </p:nvSpPr>
        <p:spPr>
          <a:xfrm>
            <a:off x="7950000" y="930000"/>
            <a:ext cx="4980000" cy="56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1500" b="1"/>
              <a:t>이미지 해석</a:t>
            </a:r>
          </a:p>
          <a:p>
            <a:r>
              <a:rPr lang="ko-KR" sz="1500"/>
              <a:t>C는 정규화 강도를 조절하는 값이다. C가 작을수록 강한 정규화가 적용된다.</a:t>
            </a:r>
          </a:p>
          <a:p>
            <a:r>
              <a:rPr lang="ko-KR" sz="1500"/>
              <a:t>C=0.001에서 Validation Accuracy 0.5153, ROC-AUC 0.5316으로 가장 좋았다.</a:t>
            </a:r>
          </a:p>
          <a:p>
            <a:r>
              <a:rPr lang="ko-KR" sz="1500"/>
              <a:t>하지만 가장 좋은 값도 0.5 근처라 성능 개선 폭은 작다.</a:t>
            </a:r>
          </a:p>
          <a:p>
            <a:r>
              <a:rPr lang="ko-KR" sz="1500"/>
              <a:t>이는 단순히 정규화 강도를 조절하는 것만으로는 데이터의 복잡한 패턴을 잡기 어렵다는 뜻이다.</a:t>
            </a:r>
          </a:p>
          <a:p>
            <a:r>
              <a:rPr lang="ko-KR" sz="1500"/>
              <a:t>비선형 모델이나 외부 변수 추가가 필요한 이유다.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0000" y="230000"/>
            <a:ext cx="12550000" cy="52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2700" b="1"/>
              <a:t>피처 중요도: 어떤 변수가 모델 판단에 쓰였나?</a:t>
            </a:r>
          </a:p>
        </p:txBody>
      </p:sp>
      <p:pic>
        <p:nvPicPr>
          <p:cNvPr id="3" name="Coefficient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000" y="930000"/>
            <a:ext cx="7250000" cy="5650000"/>
          </a:xfrm>
          <a:prstGeom prst="rect">
            <a:avLst/>
          </a:prstGeom>
        </p:spPr>
      </p:pic>
      <p:sp>
        <p:nvSpPr>
          <p:cNvPr id="4" name="Explanation"/>
          <p:cNvSpPr txBox="1"/>
          <p:nvPr/>
        </p:nvSpPr>
        <p:spPr>
          <a:xfrm>
            <a:off x="7950000" y="930000"/>
            <a:ext cx="4980000" cy="56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1400" b="1"/>
              <a:t>이미지 해석</a:t>
            </a:r>
          </a:p>
          <a:p>
            <a:r>
              <a:rPr lang="ko-KR" sz="1400"/>
              <a:t>계수 절댓값이 클수록 Logistic Regression 판단에 더 큰 영향을 준 변수다.</a:t>
            </a:r>
          </a:p>
          <a:p>
            <a:r>
              <a:rPr lang="ko-KR" sz="1400"/>
              <a:t>trend_lag3_mean, weighted_trend, trend_lag1이 상위에 포함되어 검색 트렌드가 모델 판단에 사용되었다.</a:t>
            </a:r>
          </a:p>
          <a:p>
            <a:r>
              <a:rPr lang="ko-KR" sz="1400"/>
              <a:t>Open, Close, ma20도 중요하게 나타나 실제 가격 수준과 추세가 함께 반영되었다.</a:t>
            </a:r>
          </a:p>
          <a:p>
            <a:r>
              <a:rPr lang="ko-KR" sz="1400"/>
              <a:t>다만 중요한 변수로 쓰였다는 것과 예측 성능이 높다는 것은 다르다.</a:t>
            </a:r>
          </a:p>
          <a:p>
            <a:r>
              <a:rPr lang="ko-KR" sz="1400"/>
              <a:t>검색 트렌드는 신호로 사용되었지만, 상승/하락을 안정적으로 구분할 만큼 강한 신호는 아니었다.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20000" y="330000"/>
            <a:ext cx="12300000" cy="56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2800" b="1"/>
              <a:t>피처 중요도 기반 심리학적 해석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760000" y="1130000"/>
            <a:ext cx="11900000" cy="56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1800" b="1"/>
              <a:t>심리학적 해석</a:t>
            </a:r>
          </a:p>
          <a:p>
            <a:r>
              <a:rPr lang="ko-KR" sz="1800"/>
              <a:t>weighted_trend는 투자자의 정보 탐색 행동과 시장 관심도를 반영하는 대리 변수다.</a:t>
            </a:r>
          </a:p>
          <a:p>
            <a:r>
              <a:rPr lang="ko-KR" sz="1800"/>
              <a:t>검색량 증가는 투자자가 해당 기업을 더 많이 신경 쓰기 시작했다는 뜻으로 볼 수 있다.</a:t>
            </a:r>
          </a:p>
          <a:p>
            <a:r>
              <a:rPr lang="ko-KR" sz="1800"/>
              <a:t>trend_lag1, trend_lag3_mean은 관심 증가가 당일이 아니라 며칠 뒤 의사결정에 영향을 줄 가능성을 반영한다.</a:t>
            </a:r>
          </a:p>
          <a:p>
            <a:r>
              <a:rPr lang="ko-KR" sz="1800"/>
              <a:t>하지만 검색량 증가는 좋은 관심과 나쁜 관심을 구분하지 못한다.</a:t>
            </a:r>
          </a:p>
          <a:p>
            <a:r>
              <a:rPr lang="ko-KR" sz="1800"/>
              <a:t>따라서 검색 트렌드는 투자자 심리의 강도는 보여주지만, 심리의 방향이 긍정인지 부정인지는 별도 정보가 필요하다.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20000" y="330000"/>
            <a:ext cx="12300000" cy="56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2800" b="1"/>
              <a:t>외부 요인이 부족하면 왜 해석이 어려운가?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760000" y="1130000"/>
            <a:ext cx="11900000" cy="56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1800" b="1"/>
              <a:t>외부 요인의 필요성</a:t>
            </a:r>
          </a:p>
          <a:p>
            <a:r>
              <a:rPr lang="ko-KR" sz="1800"/>
              <a:t>검색량이 증가한 이유가 호재 뉴스인지 악재 뉴스인지 알 수 없으면 주가 방향을 해석하기 어렵다.</a:t>
            </a:r>
          </a:p>
          <a:p>
            <a:r>
              <a:rPr lang="ko-KR" sz="1800"/>
              <a:t>금리 상승은 성장주에 부담이 될 수 있고, 환율 변화는 수출 기업에 영향을 줄 수 있다.</a:t>
            </a:r>
          </a:p>
          <a:p>
            <a:r>
              <a:rPr lang="ko-KR" sz="1800"/>
              <a:t>시장 지수가 하락하는 날에는 개별 기업 검색량이 높아도 주가가 함께 하락할 수 있다.</a:t>
            </a:r>
          </a:p>
          <a:p>
            <a:r>
              <a:rPr lang="ko-KR" sz="1800"/>
              <a:t>실적 발표, 산업 이슈, 정책 변화, 업종 흐름도 주가에 큰 영향을 준다.</a:t>
            </a:r>
          </a:p>
          <a:p>
            <a:r>
              <a:rPr lang="ko-KR" sz="1800"/>
              <a:t>따라서 검색량 변수는 뉴스 감성, 시장 지수, 금리, 환율, 거래량 변화와 결합해야 더 의미 있는 심리 지표가 된다.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60000" y="260000"/>
            <a:ext cx="12500000" cy="52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2700" b="1"/>
              <a:t>예측 확률 분포와 Learning Curve</a:t>
            </a:r>
          </a:p>
        </p:txBody>
      </p:sp>
      <p:pic>
        <p:nvPicPr>
          <p:cNvPr id="3" name="Probability distribu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000" y="1020000"/>
            <a:ext cx="5650000" cy="4900000"/>
          </a:xfrm>
          <a:prstGeom prst="rect">
            <a:avLst/>
          </a:prstGeom>
        </p:spPr>
      </p:pic>
      <p:pic>
        <p:nvPicPr>
          <p:cNvPr id="4" name="Learning curv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0000" y="1020000"/>
            <a:ext cx="5650000" cy="4900000"/>
          </a:xfrm>
          <a:prstGeom prst="rect">
            <a:avLst/>
          </a:prstGeom>
        </p:spPr>
      </p:pic>
      <p:sp>
        <p:nvSpPr>
          <p:cNvPr id="5" name="Notes"/>
          <p:cNvSpPr txBox="1"/>
          <p:nvPr/>
        </p:nvSpPr>
        <p:spPr>
          <a:xfrm>
            <a:off x="750000" y="6120000"/>
            <a:ext cx="11900000" cy="72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1400"/>
              <a:t>왼쪽: 실제 0과 1의 예측 확률 분포가 겹쳐 있어 모델이 확신 있게 구분하지 못한다.</a:t>
            </a:r>
          </a:p>
          <a:p>
            <a:r>
              <a:rPr lang="ko-KR" sz="1400"/>
              <a:t>오른쪽: 학습 정확도 자체도 높지 않아 과적합보다는 언더피팅 성격이 크다.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0000" y="230000"/>
            <a:ext cx="12550000" cy="52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2700" b="1"/>
              <a:t>단계적 성능 개선 실험</a:t>
            </a:r>
          </a:p>
        </p:txBody>
      </p:sp>
      <p:pic>
        <p:nvPicPr>
          <p:cNvPr id="3" name="Metric comparis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000" y="930000"/>
            <a:ext cx="7250000" cy="5650000"/>
          </a:xfrm>
          <a:prstGeom prst="rect">
            <a:avLst/>
          </a:prstGeom>
        </p:spPr>
      </p:pic>
      <p:sp>
        <p:nvSpPr>
          <p:cNvPr id="4" name="Explanation"/>
          <p:cNvSpPr txBox="1"/>
          <p:nvPr/>
        </p:nvSpPr>
        <p:spPr>
          <a:xfrm>
            <a:off x="7950000" y="930000"/>
            <a:ext cx="4980000" cy="56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1400" b="1"/>
              <a:t>이미지 해석</a:t>
            </a:r>
          </a:p>
          <a:p>
            <a:r>
              <a:rPr lang="ko-KR" sz="1400"/>
              <a:t>Baseline은 Test Accuracy 0.4924, F1 0.4898, ROC-AUC 0.4857이다.</a:t>
            </a:r>
          </a:p>
          <a:p>
            <a:r>
              <a:rPr lang="ko-KR" sz="1400"/>
              <a:t>Step 2는 SelectKBest top12 + C=0.001 + class_weight=balanced를 적용한 개선안이다.</a:t>
            </a:r>
          </a:p>
          <a:p>
            <a:r>
              <a:rPr lang="ko-KR" sz="1400"/>
              <a:t>Step 2 Test Accuracy는 0.5431, Precision 0.5889, Recall 0.5000, F1 0.5408, ROC-AUC 0.5180이다.</a:t>
            </a:r>
          </a:p>
          <a:p>
            <a:r>
              <a:rPr lang="ko-KR" sz="1400"/>
              <a:t>0.5013은 baseline 교차 검증 평균이고, 0.5431은 Step 2 Test Set 결과이므로 평가 단계가 다르다.</a:t>
            </a:r>
          </a:p>
          <a:p>
            <a:r>
              <a:rPr lang="ko-KR" sz="1400"/>
              <a:t>Step 2는 모든 주요 지표가 baseline보다 개선되었지만 절대 성능은 여전히 높지 않다.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0000" y="230000"/>
            <a:ext cx="12550000" cy="52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2700" b="1"/>
              <a:t>최종 개선안의 Confusion Matrix 비교</a:t>
            </a:r>
          </a:p>
        </p:txBody>
      </p:sp>
      <p:pic>
        <p:nvPicPr>
          <p:cNvPr id="3" name="Stepwise confusion matric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000" y="930000"/>
            <a:ext cx="7250000" cy="5650000"/>
          </a:xfrm>
          <a:prstGeom prst="rect">
            <a:avLst/>
          </a:prstGeom>
        </p:spPr>
      </p:pic>
      <p:sp>
        <p:nvSpPr>
          <p:cNvPr id="4" name="Explanation"/>
          <p:cNvSpPr txBox="1"/>
          <p:nvPr/>
        </p:nvSpPr>
        <p:spPr>
          <a:xfrm>
            <a:off x="7950000" y="930000"/>
            <a:ext cx="4980000" cy="56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1400" b="1"/>
              <a:t>이미지 해석</a:t>
            </a:r>
          </a:p>
          <a:p>
            <a:r>
              <a:rPr lang="ko-KR" sz="1400"/>
              <a:t>Step 1은 Recall이 크게 좋아졌지만 상승으로 많이 예측해 False Positive가 늘었다.</a:t>
            </a:r>
          </a:p>
          <a:p>
            <a:r>
              <a:rPr lang="ko-KR" sz="1400"/>
              <a:t>Step 3은 거의 모든 샘플을 상승으로 예측해 F1은 높아 보이지만 일반적 분류 모델로는 부적합하다.</a:t>
            </a:r>
          </a:p>
          <a:p>
            <a:r>
              <a:rPr lang="ko-KR" sz="1400"/>
              <a:t>Step 2는 Precision과 Recall의 균형이 상대적으로 좋고 한쪽 클래스로 과도하게 치우치지 않는다.</a:t>
            </a:r>
          </a:p>
          <a:p>
            <a:r>
              <a:rPr lang="ko-KR" sz="1400"/>
              <a:t>따라서 Logistic Regression 내부에서는 Step 2를 가장 해석 가능한 개선안으로 볼 수 있다.</a:t>
            </a:r>
          </a:p>
          <a:p>
            <a:r>
              <a:rPr lang="ko-KR" sz="1400"/>
              <a:t>다만 이 역시 최종 모델로 쓰기에는 성능이 충분하지 않다.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20000" y="330000"/>
            <a:ext cx="12300000" cy="56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2800" b="1"/>
              <a:t>최종 결론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760000" y="1130000"/>
            <a:ext cx="11900000" cy="56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1800" b="1"/>
              <a:t>최종 결론</a:t>
            </a:r>
          </a:p>
          <a:p>
            <a:r>
              <a:rPr lang="ko-KR" sz="1800"/>
              <a:t>Logistic Regression은 빠르고 해석 가능하므로 baseline 모델로는 의미가 있다.</a:t>
            </a:r>
          </a:p>
          <a:p>
            <a:r>
              <a:rPr lang="ko-KR" sz="1800"/>
              <a:t>하지만 Test Accuracy 0.4924, ROC-AUC 0.4857로 기본 모델의 예측력은 낮다.</a:t>
            </a:r>
          </a:p>
          <a:p>
            <a:r>
              <a:rPr lang="ko-KR" sz="1800"/>
              <a:t>Step 2 개선안은 Test Accuracy 0.5431까지 개선되었지만 여전히 높은 성능은 아니다.</a:t>
            </a:r>
          </a:p>
          <a:p>
            <a:r>
              <a:rPr lang="ko-KR" sz="1800"/>
              <a:t>검색 트렌드 변수는 모델 판단에 사용되었고, 투자자 관심/심리 신호로 해석할 수 있다.</a:t>
            </a:r>
          </a:p>
          <a:p>
            <a:r>
              <a:rPr lang="ko-KR" sz="1800"/>
              <a:t>그러나 검색량은 긍정/부정 방향을 구분하지 못하기 때문에 단독 예측 신호로는 한계가 있다.</a:t>
            </a:r>
          </a:p>
          <a:p>
            <a:r>
              <a:rPr lang="ko-KR" sz="1800"/>
              <a:t>향후에는 Random Forest, XGBoost 같은 비선형 모델과 뉴스 감성, 시장 지수, 환율, 금리 등 외부 변수를 함께 활용해야 한다.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20000" y="330000"/>
            <a:ext cx="12300000" cy="56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2800" b="1"/>
              <a:t>발표 마무리 한 문장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760000" y="1130000"/>
            <a:ext cx="11900000" cy="56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2100" b="1"/>
              <a:t>핵심 메시지</a:t>
            </a:r>
          </a:p>
          <a:p>
            <a:r>
              <a:rPr lang="ko-KR" sz="2100"/>
              <a:t>검색량은 사람들이 어떤 기업에 얼마나 관심을 가지는지를 보여주는 심리적 신호다.</a:t>
            </a:r>
          </a:p>
          <a:p>
            <a:r>
              <a:rPr lang="ko-KR" sz="2100"/>
              <a:t>하지만 관심이 항상 매수나 주가 상승을 의미하지는 않는다.</a:t>
            </a:r>
          </a:p>
          <a:p>
            <a:r>
              <a:rPr lang="ko-KR" sz="2100"/>
              <a:t>이번 Logistic Regression 결과는 주가 방향 예측이 단순 검색량과 선형 모델만으로는 어렵다는 점을 보여준다.</a:t>
            </a:r>
          </a:p>
          <a:p>
            <a:r>
              <a:rPr lang="ko-KR" sz="2100"/>
              <a:t>따라서 검색량은 뉴스 감성, 시장 상황, 가격 추세와 함께 해석할 때 더 의미 있는 투자자 심리 지표가 된다.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">
  <a:themeElements>
    <a:clrScheme name="Simple">
      <a:dk1>
        <a:srgbClr val="111111"/>
      </a:dk1>
      <a:lt1>
        <a:srgbClr val="FFFFFF"/>
      </a:lt1>
      <a:dk2>
        <a:srgbClr val="1F2937"/>
      </a:dk2>
      <a:lt2>
        <a:srgbClr val="F8FAFC"/>
      </a:lt2>
      <a:accent1>
        <a:srgbClr val="2563EB"/>
      </a:accent1>
      <a:accent2>
        <a:srgbClr val="F97316"/>
      </a:accent2>
      <a:accent3>
        <a:srgbClr val="16A34A"/>
      </a:accent3>
      <a:accent4>
        <a:srgbClr val="DC2626"/>
      </a:accent4>
      <a:accent5>
        <a:srgbClr val="7C3AED"/>
      </a:accent5>
      <a:accent6>
        <a:srgbClr val="0891B2"/>
      </a:accent6>
      <a:hlink>
        <a:srgbClr val="2563EB"/>
      </a:hlink>
      <a:folHlink>
        <a:srgbClr val="7C3AED"/>
      </a:folHlink>
    </a:clrScheme>
    <a:fontScheme name="Simple">
      <a:majorFont>
        <a:latin typeface="Aptos Display"/>
        <a:ea typeface="Malgun Gothic"/>
      </a:majorFont>
      <a:minorFont>
        <a:latin typeface="Aptos"/>
        <a:ea typeface="Malgun Gothic"/>
      </a:minorFont>
    </a:fontScheme>
    <a:fmtScheme name="Simpl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22</Slides>
  <Company>Team_1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변수 간 상관관계 및 데이터 특성 시각화</dc:title>
  <dc:creator>Team_1</dc:creator>
  <cp:lastModifiedBy>Codex</cp:lastModifiedBy>
  <dcterms:created xsi:type="dcterms:W3CDTF">2026-06-01T14:17:04Z</dcterms:created>
  <dcterms:modified xsi:type="dcterms:W3CDTF">2026-06-01T14:17:04Z</dcterms:modified>
</cp:coreProperties>
</file>