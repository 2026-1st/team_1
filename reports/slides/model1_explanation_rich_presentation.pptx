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3333333" cy="7500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Master" Target="slideMasters/slideMaster1.xml"/><Relationship Id="rId30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Logistic Regression 기반 주가 방향 예측 분석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000" b="1"/>
              <a:t>발표 목표</a:t>
            </a:r>
          </a:p>
          <a:p>
            <a:r>
              <a:rPr lang="ko-KR" sz="2000"/>
              <a:t>주가 데이터와 Google Trends 검색량 데이터를 결합해 다음 거래일 주가 방향을 예측한다.</a:t>
            </a:r>
          </a:p>
          <a:p>
            <a:r>
              <a:rPr lang="ko-KR" sz="2000"/>
              <a:t>단순히 정확도만 보는 것이 아니라, 데이터가 어떤 특성을 갖는지, 모델이 왜 잘 맞히지 못했는지 설명한다.</a:t>
            </a:r>
          </a:p>
          <a:p>
            <a:r>
              <a:rPr lang="ko-KR" sz="2000"/>
              <a:t>핵심 질문: 검색량은 투자자 심리를 반영하는가? 그리고 그 심리가 실제 주가 방향 예측에 도움이 되는가?</a:t>
            </a:r>
          </a:p>
          <a:p>
            <a:r>
              <a:rPr lang="ko-KR" sz="2000"/>
              <a:t>결론 미리보기: 검색량은 심리 신호로 의미가 있지만, 단독으로 주가 방향을 안정적으로 예측하기에는 부족하다.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분석 문제를 쉽게 설명하면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800" b="1"/>
              <a:t>이 프로젝트의 문제 정의</a:t>
            </a:r>
          </a:p>
          <a:p>
            <a:r>
              <a:rPr lang="ko-KR" sz="1800"/>
              <a:t>오늘까지의 주가와 검색량 정보를 보고, 다음 거래일 주가가 오를지 예측하는 문제다.</a:t>
            </a:r>
          </a:p>
          <a:p>
            <a:r>
              <a:rPr lang="ko-KR" sz="1800"/>
              <a:t>예측값은 두 가지다.</a:t>
            </a:r>
          </a:p>
          <a:p>
            <a:r>
              <a:rPr lang="ko-KR" sz="1800"/>
              <a:t>1 = 다음 거래일 주가 상승</a:t>
            </a:r>
          </a:p>
          <a:p>
            <a:r>
              <a:rPr lang="ko-KR" sz="1800"/>
              <a:t>0 = 다음 거래일 주가 하락 또는 상승하지 않음</a:t>
            </a:r>
          </a:p>
          <a:p>
            <a:r>
              <a:rPr lang="ko-KR" sz="1800"/>
              <a:t>즉, 주가를 정확히 얼마로 맞히는 회귀 문제가 아니라, 상승/비상승을 구분하는 분류 문제다.</a:t>
            </a:r>
          </a:p>
          <a:p>
            <a:r>
              <a:rPr lang="ko-KR" sz="1800"/>
              <a:t>그래서 Accuracy, Precision, Recall, F1, ROC-AUC 같은 분류 지표를 사용했다.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데이터셋 구성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800" b="1"/>
              <a:t>사용 데이터</a:t>
            </a:r>
          </a:p>
          <a:p>
            <a:r>
              <a:rPr lang="ko-KR" sz="1800"/>
              <a:t>국내 주요 6개 기업의 주가 데이터와 Google Trends 검색량 데이터를 결합했다.</a:t>
            </a:r>
          </a:p>
          <a:p>
            <a:r>
              <a:rPr lang="ko-KR" sz="1800"/>
              <a:t>분석 기간: 2025-06-10 ~ 2026-05-11</a:t>
            </a:r>
          </a:p>
          <a:p>
            <a:r>
              <a:rPr lang="ko-KR" sz="1800"/>
              <a:t>전체 표본 수: 1,344개</a:t>
            </a:r>
          </a:p>
          <a:p>
            <a:r>
              <a:rPr lang="ko-KR" sz="1800"/>
              <a:t>분할 수: Train 914개, Validation 196개, Test 197개</a:t>
            </a:r>
          </a:p>
          <a:p>
            <a:r>
              <a:rPr lang="ko-KR" sz="1800"/>
              <a:t>시간 순서가 중요한 데이터이므로, 무작위로 섞지 않고 과거에서 미래 방향으로 나누었다.</a:t>
            </a:r>
          </a:p>
          <a:p>
            <a:r>
              <a:rPr lang="ko-KR" sz="1800"/>
              <a:t>이렇게 해야 미래 정보를 과거 학습에 사용하는 데이터 누수를 줄일 수 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주가 기반 피처 설명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700" b="1"/>
              <a:t>주가 기반 피처가 담고 있는 정보</a:t>
            </a:r>
          </a:p>
          <a:p>
            <a:r>
              <a:rPr lang="ko-KR" sz="1700"/>
              <a:t>Open, High, Low, Close: 하루 동안 가격이 어느 수준에서 움직였는지 보여준다.</a:t>
            </a:r>
          </a:p>
          <a:p>
            <a:r>
              <a:rPr lang="ko-KR" sz="1700"/>
              <a:t>Volume: 실제 거래가 얼마나 활발했는지 보여준다.</a:t>
            </a:r>
          </a:p>
          <a:p>
            <a:r>
              <a:rPr lang="ko-KR" sz="1700"/>
              <a:t>return_lag1: 직전 거래일 수익률로, 최근 가격 반응을 반영한다.</a:t>
            </a:r>
          </a:p>
          <a:p>
            <a:r>
              <a:rPr lang="ko-KR" sz="1700"/>
              <a:t>return_lag3_mean: 최근 3일 평균 수익률로, 단기 흐름을 완화해서 본다.</a:t>
            </a:r>
          </a:p>
          <a:p>
            <a:r>
              <a:rPr lang="ko-KR" sz="1700"/>
              <a:t>ma5_gap, ma20_gap: 현재 가격이 5일/20일 이동평균 대비 얼마나 떨어져 있는지 나타낸다.</a:t>
            </a:r>
          </a:p>
          <a:p>
            <a:r>
              <a:rPr lang="ko-KR" sz="1700"/>
              <a:t>volatility_7: 최근 7일간 가격 변동성이 커졌는지 확인한다.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검색 트렌드 피처 설명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800" b="1"/>
              <a:t>검색 트렌드 피처가 담고 있는 정보</a:t>
            </a:r>
          </a:p>
          <a:p>
            <a:r>
              <a:rPr lang="ko-KR" sz="1800"/>
              <a:t>trend_kor: 국내에서 해당 기업을 얼마나 검색했는지 나타내는 Google Trends 값이다.</a:t>
            </a:r>
          </a:p>
          <a:p>
            <a:r>
              <a:rPr lang="ko-KR" sz="1800"/>
              <a:t>trend_glb: 글로벌 기준으로 해당 기업 검색 관심도를 나타낸 값이다.</a:t>
            </a:r>
          </a:p>
          <a:p>
            <a:r>
              <a:rPr lang="ko-KR" sz="1800"/>
              <a:t>검색량은 0~100 범위로 정규화된 상대적 관심도이다.</a:t>
            </a:r>
          </a:p>
          <a:p>
            <a:r>
              <a:rPr lang="ko-KR" sz="1800"/>
              <a:t>검색량이 높다는 것은 사람들이 그 기업에 대해 더 많이 찾아봤다는 뜻이다.</a:t>
            </a:r>
          </a:p>
          <a:p>
            <a:r>
              <a:rPr lang="ko-KR" sz="1800"/>
              <a:t>하지만 검색량만으로는 그 관심이 긍정적인 관심인지, 부정적인 불안인지 구분할 수 없다.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weighted_trend는 무엇인가?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700" b="1"/>
              <a:t>weighted_trend 정의</a:t>
            </a:r>
          </a:p>
          <a:p>
            <a:r>
              <a:rPr lang="ko-KR" sz="1700"/>
              <a:t>weighted_trend = foreign_ratio * trend_glb + (1 - foreign_ratio) * trend_kor</a:t>
            </a:r>
          </a:p>
          <a:p>
            <a:r>
              <a:rPr lang="ko-KR" sz="1700"/>
              <a:t>foreign_ratio는 외국인 투자자 비중을 의미한다.</a:t>
            </a:r>
          </a:p>
          <a:p>
            <a:r>
              <a:rPr lang="ko-KR" sz="1700"/>
              <a:t>외국인 비중이 높은 기업은 글로벌 검색 관심도가 더 중요할 수 있다.</a:t>
            </a:r>
          </a:p>
          <a:p>
            <a:r>
              <a:rPr lang="ko-KR" sz="1700"/>
              <a:t>국내 투자자 비중이 높은 기업은 국내 검색 관심도가 더 중요할 수 있다.</a:t>
            </a:r>
          </a:p>
          <a:p>
            <a:r>
              <a:rPr lang="ko-KR" sz="1700"/>
              <a:t>따라서 weighted_trend는 국내 검색량과 글로벌 검색량을 기업 특성에 맞게 섞은 관심도 지표다.</a:t>
            </a:r>
          </a:p>
          <a:p>
            <a:r>
              <a:rPr lang="ko-KR" sz="1700"/>
              <a:t>발표에서는 이를 투자자 관심도 또는 심리 신호의 대리 변수로 설명하면 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weighted_trend 예시로 이해하기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800" b="1"/>
              <a:t>예시</a:t>
            </a:r>
          </a:p>
          <a:p>
            <a:r>
              <a:rPr lang="ko-KR" sz="1800"/>
              <a:t>어떤 기업의 foreign_ratio가 0.60이라고 가정한다.</a:t>
            </a:r>
          </a:p>
          <a:p>
            <a:r>
              <a:rPr lang="ko-KR" sz="1800"/>
              <a:t>trend_glb가 80, trend_kor가 40이라면 weighted_trend는 다음과 같다.</a:t>
            </a:r>
          </a:p>
          <a:p>
            <a:r>
              <a:rPr lang="ko-KR" sz="1800"/>
              <a:t>0.60 * 80 + 0.40 * 40 = 64</a:t>
            </a:r>
          </a:p>
          <a:p>
            <a:r>
              <a:rPr lang="ko-KR" sz="1800"/>
              <a:t>즉, 외국인 비중이 높기 때문에 글로벌 검색량의 영향이 더 크게 반영된다.</a:t>
            </a:r>
          </a:p>
          <a:p>
            <a:r>
              <a:rPr lang="ko-KR" sz="1800"/>
              <a:t>이 변수는 단순히 사람들이 검색한 횟수가 아니라, 국내/해외 투자자 관심을 함께 반영한 값이다.</a:t>
            </a:r>
          </a:p>
          <a:p>
            <a:r>
              <a:rPr lang="ko-KR" sz="1800"/>
              <a:t>그래서 심리학적으로는 '집단적 관심 변화'를 나타내는 변수로 볼 수 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trend_lag 변수는 왜 필요한가?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800" b="1"/>
              <a:t>지연 검색량 변수의 의미</a:t>
            </a:r>
          </a:p>
          <a:p>
            <a:r>
              <a:rPr lang="ko-KR" sz="1800"/>
              <a:t>trend_lag1은 하루 전 검색 관심도이다.</a:t>
            </a:r>
          </a:p>
          <a:p>
            <a:r>
              <a:rPr lang="ko-KR" sz="1800"/>
              <a:t>trend_lag3_mean은 최근 3일 평균 검색 관심도이다.</a:t>
            </a:r>
          </a:p>
          <a:p>
            <a:r>
              <a:rPr lang="ko-KR" sz="1800"/>
              <a:t>trend_lag7_mean은 최근 7일 평균 검색 관심도이다.</a:t>
            </a:r>
          </a:p>
          <a:p>
            <a:r>
              <a:rPr lang="ko-KR" sz="1800"/>
              <a:t>투자자는 뉴스를 보고 바로 매매하지 않을 수도 있다.</a:t>
            </a:r>
          </a:p>
          <a:p>
            <a:r>
              <a:rPr lang="ko-KR" sz="1800"/>
              <a:t>검색 -&gt; 정보 확인 -&gt; 판단 -&gt; 매매 행동까지 시간이 걸릴 수 있다.</a:t>
            </a:r>
          </a:p>
          <a:p>
            <a:r>
              <a:rPr lang="ko-KR" sz="1800"/>
              <a:t>그래서 검색량의 당일 값뿐 아니라 며칠 전 검색량과 평균 검색량도 모델에 넣었다.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데이터 특성을 보기 전에 알아야 할 점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800" b="1"/>
              <a:t>이미지를 볼 때의 기준</a:t>
            </a:r>
          </a:p>
          <a:p>
            <a:r>
              <a:rPr lang="ko-KR" sz="1800"/>
              <a:t>우리는 먼저 target 0과 target 1이 데이터상에서 잘 구분되는지 확인해야 한다.</a:t>
            </a:r>
          </a:p>
          <a:p>
            <a:r>
              <a:rPr lang="ko-KR" sz="1800"/>
              <a:t>만약 검색량이나 수익률 분포가 target별로 확실히 나뉜다면 모델이 쉽게 학습할 수 있다.</a:t>
            </a:r>
          </a:p>
          <a:p>
            <a:r>
              <a:rPr lang="ko-KR" sz="1800"/>
              <a:t>반대로 두 클래스의 분포가 많이 겹치면, 모델은 상승/하락을 구분하기 어렵다.</a:t>
            </a:r>
          </a:p>
          <a:p>
            <a:r>
              <a:rPr lang="ko-KR" sz="1800"/>
              <a:t>따라서 EDA 이미지는 모델이 왜 잘 맞히거나 못 맞히는지 이해하기 위한 첫 단서다.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30000"/>
            <a:ext cx="1255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데이터 특성 시각화 상세 설명</a:t>
            </a:r>
          </a:p>
        </p:txBody>
      </p:sp>
      <p:pic>
        <p:nvPicPr>
          <p:cNvPr id="3" name="EDA distribu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0" y="930000"/>
            <a:ext cx="7250000" cy="5650000"/>
          </a:xfrm>
          <a:prstGeom prst="rect">
            <a:avLst/>
          </a:prstGeom>
        </p:spPr>
      </p:pic>
      <p:sp>
        <p:nvSpPr>
          <p:cNvPr id="4" name="Explanation"/>
          <p:cNvSpPr txBox="1"/>
          <p:nvPr/>
        </p:nvSpPr>
        <p:spPr>
          <a:xfrm>
            <a:off x="7950000" y="930000"/>
            <a:ext cx="498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400" b="1"/>
              <a:t>이미지에서 볼 것</a:t>
            </a:r>
          </a:p>
          <a:p>
            <a:r>
              <a:rPr lang="ko-KR" sz="1400"/>
              <a:t>1. target 분포: 상승 클래스가 조금 많지만 극단적 불균형은 아니다.</a:t>
            </a:r>
          </a:p>
          <a:p>
            <a:r>
              <a:rPr lang="ko-KR" sz="1400"/>
              <a:t>2. 기업별 target 분포: 기업마다 상승/하락 비율 차이가 있다.</a:t>
            </a:r>
          </a:p>
          <a:p>
            <a:r>
              <a:rPr lang="ko-KR" sz="1400"/>
              <a:t>3. weighted_trend 분포: target 0과 1이 명확히 분리되지 않는다.</a:t>
            </a:r>
          </a:p>
          <a:p>
            <a:r>
              <a:rPr lang="ko-KR" sz="1400"/>
              <a:t>4. return_lag1 분포: 직전 수익률도 상승/하락을 강하게 구분하지 못한다.</a:t>
            </a:r>
          </a:p>
          <a:p>
            <a:r>
              <a:rPr lang="ko-KR" sz="1400"/>
              <a:t>해석: 데이터 자체에 쉬운 분리 기준이 약하므로 모델 성능이 낮게 나올 가능성이 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30000"/>
            <a:ext cx="1255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상관관계 히트맵 상세 설명</a:t>
            </a:r>
          </a:p>
        </p:txBody>
      </p:sp>
      <p:pic>
        <p:nvPicPr>
          <p:cNvPr id="3" name="Correlation heat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0" y="930000"/>
            <a:ext cx="7250000" cy="5650000"/>
          </a:xfrm>
          <a:prstGeom prst="rect">
            <a:avLst/>
          </a:prstGeom>
        </p:spPr>
      </p:pic>
      <p:sp>
        <p:nvSpPr>
          <p:cNvPr id="4" name="Explanation"/>
          <p:cNvSpPr txBox="1"/>
          <p:nvPr/>
        </p:nvSpPr>
        <p:spPr>
          <a:xfrm>
            <a:off x="7950000" y="930000"/>
            <a:ext cx="498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400" b="1"/>
              <a:t>이미지에서 볼 것</a:t>
            </a:r>
          </a:p>
          <a:p>
            <a:r>
              <a:rPr lang="ko-KR" sz="1400"/>
              <a:t>히트맵은 변수 간 선형 관계를 색으로 보여준다.</a:t>
            </a:r>
          </a:p>
          <a:p>
            <a:r>
              <a:rPr lang="ko-KR" sz="1400"/>
              <a:t>target과 weighted_trend의 상관계수는 약 -0.07로 매우 낮다.</a:t>
            </a:r>
          </a:p>
          <a:p>
            <a:r>
              <a:rPr lang="ko-KR" sz="1400"/>
              <a:t>target과 return_lag1도 약 -0.06 수준으로 낮다.</a:t>
            </a:r>
          </a:p>
          <a:p>
            <a:r>
              <a:rPr lang="ko-KR" sz="1400"/>
              <a:t>즉, 검색량이 높으면 다음 날 상승한다는 단순한 선형 규칙이 강하지 않다.</a:t>
            </a:r>
          </a:p>
          <a:p>
            <a:r>
              <a:rPr lang="ko-KR" sz="1400"/>
              <a:t>Logistic Regression은 선형 경계를 찾는 모델이므로 이런 데이터에서는 성능이 제한될 수 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30000"/>
            <a:ext cx="1255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주가-검색량 시계열 중첩 그래프 상세 설명</a:t>
            </a:r>
          </a:p>
        </p:txBody>
      </p:sp>
      <p:pic>
        <p:nvPicPr>
          <p:cNvPr id="3" name="Stock-search overl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0" y="930000"/>
            <a:ext cx="7250000" cy="5650000"/>
          </a:xfrm>
          <a:prstGeom prst="rect">
            <a:avLst/>
          </a:prstGeom>
        </p:spPr>
      </p:pic>
      <p:sp>
        <p:nvSpPr>
          <p:cNvPr id="4" name="Explanation"/>
          <p:cNvSpPr txBox="1"/>
          <p:nvPr/>
        </p:nvSpPr>
        <p:spPr>
          <a:xfrm>
            <a:off x="7950000" y="930000"/>
            <a:ext cx="498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300" b="1"/>
              <a:t>이미지에서 볼 것</a:t>
            </a:r>
          </a:p>
          <a:p>
            <a:r>
              <a:rPr lang="ko-KR" sz="1300"/>
              <a:t>파란색은 Close, 주황색은 weighted_trend이다.</a:t>
            </a:r>
          </a:p>
          <a:p>
            <a:r>
              <a:rPr lang="ko-KR" sz="1300"/>
              <a:t>두 변수는 단위가 달라서 기업별 min-max 정규화 후 비교했다.</a:t>
            </a:r>
          </a:p>
          <a:p>
            <a:r>
              <a:rPr lang="ko-KR" sz="1300"/>
              <a:t>대부분 기업에서 두 선이 안정적으로 같이 움직이지 않는다.</a:t>
            </a:r>
          </a:p>
          <a:p>
            <a:r>
              <a:rPr lang="ko-KR" sz="1300"/>
              <a:t>상관계수는 삼성전자 0.13, 한화 0.04, 현대차 -0.02, 네이버 -0.08, LG전자 -0.09, SK하이닉스 -0.51이다.</a:t>
            </a:r>
          </a:p>
          <a:p>
            <a:r>
              <a:rPr lang="ko-KR" sz="1300"/>
              <a:t>해석: 검색량은 관심도를 보여주지만, 그 관심이 바로 주가 상승으로 이어지지는 않는다.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왜 검색량과 주가가 단순히 같이 움직이지 않을까?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700" b="1"/>
              <a:t>이유 1: 검색량은 방향성이 없다.</a:t>
            </a:r>
          </a:p>
          <a:p>
            <a:r>
              <a:rPr lang="ko-KR" sz="1700"/>
              <a:t>검색량 증가는 좋은 뉴스에 대한 기대감일 수도 있고, 나쁜 뉴스에 대한 불안감일 수도 있다.</a:t>
            </a:r>
          </a:p>
          <a:p>
            <a:r>
              <a:rPr lang="ko-KR" sz="1700"/>
              <a:t>이유 2: 검색과 매매 사이에는 시간 차가 있다.</a:t>
            </a:r>
          </a:p>
          <a:p>
            <a:r>
              <a:rPr lang="ko-KR" sz="1700"/>
              <a:t>검색이 먼저 나오고 주가가 나중에 움직일 수도 있고, 주가가 먼저 움직인 뒤 검색량이 늘 수도 있다.</a:t>
            </a:r>
          </a:p>
          <a:p>
            <a:r>
              <a:rPr lang="ko-KR" sz="1700"/>
              <a:t>이유 3: 주가는 외부 요인의 영향을 크게 받는다.</a:t>
            </a:r>
          </a:p>
          <a:p>
            <a:r>
              <a:rPr lang="ko-KR" sz="1700"/>
              <a:t>시장 지수, 금리, 환율, 실적 발표, 업종 흐름, 뉴스 감성 등이 검색량보다 더 강하게 작용할 수 있다.</a:t>
            </a:r>
          </a:p>
          <a:p>
            <a:r>
              <a:rPr lang="ko-KR" sz="1700"/>
              <a:t>따라서 검색량은 단독 예측 신호보다 심리 보조 지표로 보는 것이 적절하다.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실험 설계 상세 설명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700" b="1"/>
              <a:t>모델과 평가 방식</a:t>
            </a:r>
          </a:p>
          <a:p>
            <a:r>
              <a:rPr lang="ko-KR" sz="1700"/>
              <a:t>모델은 Logistic Regression을 사용했다.</a:t>
            </a:r>
          </a:p>
          <a:p>
            <a:r>
              <a:rPr lang="ko-KR" sz="1700"/>
              <a:t>이 모델은 빠르고 해석 가능하며, 계수를 통해 어떤 변수가 판단에 영향을 주는지 볼 수 있다.</a:t>
            </a:r>
          </a:p>
          <a:p>
            <a:r>
              <a:rPr lang="ko-KR" sz="1700"/>
              <a:t>데이터 분할은 Train 70%, Validation 15%, Test 15%이다.</a:t>
            </a:r>
          </a:p>
          <a:p>
            <a:r>
              <a:rPr lang="ko-KR" sz="1700"/>
              <a:t>교차 검증은 TimeSeriesSplit 5 folds를 사용했다.</a:t>
            </a:r>
          </a:p>
          <a:p>
            <a:r>
              <a:rPr lang="ko-KR" sz="1700"/>
              <a:t>일반 K-Fold처럼 섞지 않은 이유는 주가 데이터가 시간 순서를 가진 시계열 데이터이기 때문이다.</a:t>
            </a:r>
          </a:p>
          <a:p>
            <a:r>
              <a:rPr lang="ko-KR" sz="1700"/>
              <a:t>평가 지표는 Accuracy, Precision, Recall, F1 Score, Confusion Matrix, ROC-AUC를 함께 사용했다.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평가 지표를 쉽게 이해하기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600" b="1"/>
              <a:t>Accuracy</a:t>
            </a:r>
          </a:p>
          <a:p>
            <a:r>
              <a:rPr lang="ko-KR" sz="1600"/>
              <a:t>전체 예측 중 맞힌 비율이다. 하지만 상승/하락 중 어떤 쪽을 잘 맞혔는지는 알려주지 않는다.</a:t>
            </a:r>
          </a:p>
          <a:p>
            <a:r>
              <a:rPr lang="ko-KR" sz="1600"/>
              <a:t>Precision</a:t>
            </a:r>
          </a:p>
          <a:p>
            <a:r>
              <a:rPr lang="ko-KR" sz="1600"/>
              <a:t>모델이 상승이라고 예측한 것 중 실제 상승한 비율이다.</a:t>
            </a:r>
          </a:p>
          <a:p>
            <a:r>
              <a:rPr lang="ko-KR" sz="1600"/>
              <a:t>Recall</a:t>
            </a:r>
          </a:p>
          <a:p>
            <a:r>
              <a:rPr lang="ko-KR" sz="1600"/>
              <a:t>실제 상승한 것 중 모델이 상승으로 잡아낸 비율이다. 상승 기회를 놓치지 않는 능력과 관련 있다.</a:t>
            </a:r>
          </a:p>
          <a:p>
            <a:r>
              <a:rPr lang="ko-KR" sz="1600"/>
              <a:t>F1 Score</a:t>
            </a:r>
          </a:p>
          <a:p>
            <a:r>
              <a:rPr lang="ko-KR" sz="1600"/>
              <a:t>Precision과 Recall의 균형을 보는 지표다.</a:t>
            </a:r>
          </a:p>
          <a:p>
            <a:r>
              <a:rPr lang="ko-KR" sz="1600"/>
              <a:t>ROC-AUC</a:t>
            </a:r>
          </a:p>
          <a:p>
            <a:r>
              <a:rPr lang="ko-KR" sz="1600"/>
              <a:t>예측 확률이 상승과 하락을 얼마나 잘 구분하는지 보는 지표다.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30000"/>
            <a:ext cx="1255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교차 검증 결과 상세 설명</a:t>
            </a:r>
          </a:p>
        </p:txBody>
      </p:sp>
      <p:pic>
        <p:nvPicPr>
          <p:cNvPr id="3" name="CV accurac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0" y="930000"/>
            <a:ext cx="7250000" cy="5650000"/>
          </a:xfrm>
          <a:prstGeom prst="rect">
            <a:avLst/>
          </a:prstGeom>
        </p:spPr>
      </p:pic>
      <p:sp>
        <p:nvSpPr>
          <p:cNvPr id="4" name="Explanation"/>
          <p:cNvSpPr txBox="1"/>
          <p:nvPr/>
        </p:nvSpPr>
        <p:spPr>
          <a:xfrm>
            <a:off x="7950000" y="930000"/>
            <a:ext cx="498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400" b="1"/>
              <a:t>이미지에서 볼 것</a:t>
            </a:r>
          </a:p>
          <a:p>
            <a:r>
              <a:rPr lang="ko-KR" sz="1400"/>
              <a:t>Fold별 정확도는 0.4868, 0.4934, 0.4737, 0.5461, 0.5066이다.</a:t>
            </a:r>
          </a:p>
          <a:p>
            <a:r>
              <a:rPr lang="ko-KR" sz="1400"/>
              <a:t>평균 정확도는 0.5013이다.</a:t>
            </a:r>
          </a:p>
          <a:p>
            <a:r>
              <a:rPr lang="ko-KR" sz="1400"/>
              <a:t>이는 무작위 예측 수준인 0.5와 거의 같다.</a:t>
            </a:r>
          </a:p>
          <a:p>
            <a:r>
              <a:rPr lang="ko-KR" sz="1400"/>
              <a:t>Fold 4만 상대적으로 높지만, 전체적으로 반복해서 안정적인 성능이 나오지 않는다.</a:t>
            </a:r>
          </a:p>
          <a:p>
            <a:r>
              <a:rPr lang="ko-KR" sz="1400"/>
              <a:t>해석: 모델이 특정 기간에만 약간 맞고, 전체 시계열에 통하는 규칙은 잘 찾지 못했다.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30000"/>
            <a:ext cx="1255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Test Set 성능과 Confusion Matrix 상세 설명</a:t>
            </a:r>
          </a:p>
        </p:txBody>
      </p:sp>
      <p:pic>
        <p:nvPicPr>
          <p:cNvPr id="3" name="Confusion matri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0" y="930000"/>
            <a:ext cx="7250000" cy="5650000"/>
          </a:xfrm>
          <a:prstGeom prst="rect">
            <a:avLst/>
          </a:prstGeom>
        </p:spPr>
      </p:pic>
      <p:sp>
        <p:nvSpPr>
          <p:cNvPr id="4" name="Explanation"/>
          <p:cNvSpPr txBox="1"/>
          <p:nvPr/>
        </p:nvSpPr>
        <p:spPr>
          <a:xfrm>
            <a:off x="7950000" y="930000"/>
            <a:ext cx="498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400" b="1"/>
              <a:t>이미지에서 볼 것</a:t>
            </a:r>
          </a:p>
          <a:p>
            <a:r>
              <a:rPr lang="ko-KR" sz="1400"/>
              <a:t>Actual 0 중 49개는 맞혔고 42개는 상승으로 잘못 예측했다.</a:t>
            </a:r>
          </a:p>
          <a:p>
            <a:r>
              <a:rPr lang="ko-KR" sz="1400"/>
              <a:t>Actual 1 중 48개는 맞혔고 58개는 하락으로 잘못 예측했다.</a:t>
            </a:r>
          </a:p>
          <a:p>
            <a:r>
              <a:rPr lang="ko-KR" sz="1400"/>
              <a:t>실제 상승 106개 중 48개만 잡았기 때문에 Recall이 0.4528로 낮다.</a:t>
            </a:r>
          </a:p>
          <a:p>
            <a:r>
              <a:rPr lang="ko-KR" sz="1400"/>
              <a:t>투자 관점에서는 실제 상승 기회를 놓치는 FN이 많다는 점이 문제다.</a:t>
            </a:r>
          </a:p>
          <a:p>
            <a:r>
              <a:rPr lang="ko-KR" sz="1400"/>
              <a:t>결론: baseline 모델은 상승 신호를 충분히 포착하지 못했다.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30000"/>
            <a:ext cx="1255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ROC Curve 상세 설명</a:t>
            </a:r>
          </a:p>
        </p:txBody>
      </p:sp>
      <p:pic>
        <p:nvPicPr>
          <p:cNvPr id="3" name="ROC curv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0" y="930000"/>
            <a:ext cx="7250000" cy="5650000"/>
          </a:xfrm>
          <a:prstGeom prst="rect">
            <a:avLst/>
          </a:prstGeom>
        </p:spPr>
      </p:pic>
      <p:sp>
        <p:nvSpPr>
          <p:cNvPr id="4" name="Explanation"/>
          <p:cNvSpPr txBox="1"/>
          <p:nvPr/>
        </p:nvSpPr>
        <p:spPr>
          <a:xfrm>
            <a:off x="7950000" y="930000"/>
            <a:ext cx="498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400" b="1"/>
              <a:t>이미지에서 볼 것</a:t>
            </a:r>
          </a:p>
          <a:p>
            <a:r>
              <a:rPr lang="ko-KR" sz="1400"/>
              <a:t>ROC-AUC는 0.4857이다.</a:t>
            </a:r>
          </a:p>
          <a:p>
            <a:r>
              <a:rPr lang="ko-KR" sz="1400"/>
              <a:t>대각선은 랜덤 예측 수준을 의미한다.</a:t>
            </a:r>
          </a:p>
          <a:p>
            <a:r>
              <a:rPr lang="ko-KR" sz="1400"/>
              <a:t>곡선이 대각선과 거의 겹친다는 것은 상승과 하락의 확률 점수를 잘 구분하지 못했다는 뜻이다.</a:t>
            </a:r>
          </a:p>
          <a:p>
            <a:r>
              <a:rPr lang="ko-KR" sz="1400"/>
              <a:t>AUC가 0.5보다 낮거나 비슷하면 모델의 분류력이 매우 약하다고 볼 수 있다.</a:t>
            </a:r>
          </a:p>
          <a:p>
            <a:r>
              <a:rPr lang="ko-KR" sz="1400"/>
              <a:t>결론: baseline Logistic Regression은 확률 기반 구분 능력도 낮다.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30000"/>
            <a:ext cx="1255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하이퍼파라미터 C 변경 결과 상세 설명</a:t>
            </a:r>
          </a:p>
        </p:txBody>
      </p:sp>
      <p:pic>
        <p:nvPicPr>
          <p:cNvPr id="3" name="Hyperparameter effec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0" y="930000"/>
            <a:ext cx="7250000" cy="5650000"/>
          </a:xfrm>
          <a:prstGeom prst="rect">
            <a:avLst/>
          </a:prstGeom>
        </p:spPr>
      </p:pic>
      <p:sp>
        <p:nvSpPr>
          <p:cNvPr id="4" name="Explanation"/>
          <p:cNvSpPr txBox="1"/>
          <p:nvPr/>
        </p:nvSpPr>
        <p:spPr>
          <a:xfrm>
            <a:off x="7950000" y="930000"/>
            <a:ext cx="498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400" b="1"/>
              <a:t>이미지에서 볼 것</a:t>
            </a:r>
          </a:p>
          <a:p>
            <a:r>
              <a:rPr lang="ko-KR" sz="1400"/>
              <a:t>C는 정규화 강도와 관련된 값이다.</a:t>
            </a:r>
          </a:p>
          <a:p>
            <a:r>
              <a:rPr lang="ko-KR" sz="1400"/>
              <a:t>C가 작을수록 강한 정규화가 적용되어 계수가 과도하게 커지는 것을 막는다.</a:t>
            </a:r>
          </a:p>
          <a:p>
            <a:r>
              <a:rPr lang="ko-KR" sz="1400"/>
              <a:t>C=0.001에서 Validation Accuracy 0.5153, ROC-AUC 0.5316으로 가장 좋았다.</a:t>
            </a:r>
          </a:p>
          <a:p>
            <a:r>
              <a:rPr lang="ko-KR" sz="1400"/>
              <a:t>하지만 가장 좋은 값도 0.5 근처에 머문다.</a:t>
            </a:r>
          </a:p>
          <a:p>
            <a:r>
              <a:rPr lang="ko-KR" sz="1400"/>
              <a:t>해석: C 조정만으로는 데이터의 복잡한 패턴을 충분히 학습하기 어렵다.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30000"/>
            <a:ext cx="1255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피처 중요도 그래프 상세 설명</a:t>
            </a:r>
          </a:p>
        </p:txBody>
      </p:sp>
      <p:pic>
        <p:nvPicPr>
          <p:cNvPr id="3" name="Coefficie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0" y="930000"/>
            <a:ext cx="7250000" cy="5650000"/>
          </a:xfrm>
          <a:prstGeom prst="rect">
            <a:avLst/>
          </a:prstGeom>
        </p:spPr>
      </p:pic>
      <p:sp>
        <p:nvSpPr>
          <p:cNvPr id="4" name="Explanation"/>
          <p:cNvSpPr txBox="1"/>
          <p:nvPr/>
        </p:nvSpPr>
        <p:spPr>
          <a:xfrm>
            <a:off x="7950000" y="930000"/>
            <a:ext cx="498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300" b="1"/>
              <a:t>이미지에서 볼 것</a:t>
            </a:r>
          </a:p>
          <a:p>
            <a:r>
              <a:rPr lang="ko-KR" sz="1300"/>
              <a:t>Logistic Regression의 계수는 각 변수가 예측에 미치는 영향을 보여준다.</a:t>
            </a:r>
          </a:p>
          <a:p>
            <a:r>
              <a:rPr lang="ko-KR" sz="1300"/>
              <a:t>trend_lag3_mean, weighted_trend, trend_lag1이 상위에 있어 검색 트렌드가 모델 판단에 사용되었다.</a:t>
            </a:r>
          </a:p>
          <a:p>
            <a:r>
              <a:rPr lang="ko-KR" sz="1300"/>
              <a:t>Open, Close, ma20도 상위에 있어 실제 가격 수준과 추세도 중요하게 반영되었다.</a:t>
            </a:r>
          </a:p>
          <a:p>
            <a:r>
              <a:rPr lang="ko-KR" sz="1300"/>
              <a:t>하지만 중요 변수로 쓰였다는 것이 곧 높은 성능을 의미하지는 않는다.</a:t>
            </a:r>
          </a:p>
          <a:p>
            <a:r>
              <a:rPr lang="ko-KR" sz="1300"/>
              <a:t>검색량은 심리 신호로 쓰였지만, 상승/하락 방향을 안정적으로 구분하기에는 정보가 부족했다.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피처 중요도 기반 심리학적 해석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700" b="1"/>
              <a:t>심리학적 해석</a:t>
            </a:r>
          </a:p>
          <a:p>
            <a:r>
              <a:rPr lang="ko-KR" sz="1700"/>
              <a:t>검색량은 투자자의 정보 탐색 행동을 반영한다.</a:t>
            </a:r>
          </a:p>
          <a:p>
            <a:r>
              <a:rPr lang="ko-KR" sz="1700"/>
              <a:t>weighted_trend가 중요하게 나온 것은 국내/해외 투자자의 관심 변화가 모델 판단에 일부 사용되었다는 뜻이다.</a:t>
            </a:r>
          </a:p>
          <a:p>
            <a:r>
              <a:rPr lang="ko-KR" sz="1700"/>
              <a:t>trend_lag1, trend_lag3_mean이 중요하게 나온 것은 투자자 심리가 당일이 아니라 며칠 뒤 행동에 연결될 가능성을 보여준다.</a:t>
            </a:r>
          </a:p>
          <a:p>
            <a:r>
              <a:rPr lang="ko-KR" sz="1700"/>
              <a:t>하지만 검색량 증가는 긍정적 기대와 부정적 불안을 모두 포함한다.</a:t>
            </a:r>
          </a:p>
          <a:p>
            <a:r>
              <a:rPr lang="ko-KR" sz="1700"/>
              <a:t>따라서 검색량은 심리의 강도는 보여주지만, 방향성은 뉴스 감성 같은 추가 정보가 있어야 알 수 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성능이 낮게 나온 이유를 종합하면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700" b="1"/>
              <a:t>이유 1: target과 주요 feature의 선형 상관관계가 낮았다.</a:t>
            </a:r>
          </a:p>
          <a:p>
            <a:r>
              <a:rPr lang="ko-KR" sz="1700"/>
              <a:t>Logistic Regression은 선형 관계를 잘 활용하는 모델이므로, 선형 패턴이 약하면 성능이 제한된다.</a:t>
            </a:r>
          </a:p>
          <a:p>
            <a:r>
              <a:rPr lang="ko-KR" sz="1700"/>
              <a:t>이유 2: 검색량은 방향성이 부족하다.</a:t>
            </a:r>
          </a:p>
          <a:p>
            <a:r>
              <a:rPr lang="ko-KR" sz="1700"/>
              <a:t>검색량이 높아도 호재 관심인지 악재 불안인지 구분되지 않는다.</a:t>
            </a:r>
          </a:p>
          <a:p>
            <a:r>
              <a:rPr lang="ko-KR" sz="1700"/>
              <a:t>이유 3: 외부 요인이 부족하다.</a:t>
            </a:r>
          </a:p>
          <a:p>
            <a:r>
              <a:rPr lang="ko-KR" sz="1700"/>
              <a:t>금리, 환율, 시장 지수, 뉴스 감성, 실적 발표 등이 빠져 있어 실제 주가 변동을 충분히 설명하지 못한다.</a:t>
            </a:r>
          </a:p>
          <a:p>
            <a:r>
              <a:rPr lang="ko-KR" sz="1700"/>
              <a:t>이유 4: 주가 방향 예측 자체가 비선형적이고 잡음이 많은 문제다.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예측 확률 분포와 Learning Curve 상세 설명</a:t>
            </a:r>
          </a:p>
        </p:txBody>
      </p:sp>
      <p:pic>
        <p:nvPicPr>
          <p:cNvPr id="3" name="Probability distribu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00" y="1020000"/>
            <a:ext cx="5650000" cy="4900000"/>
          </a:xfrm>
          <a:prstGeom prst="rect">
            <a:avLst/>
          </a:prstGeom>
        </p:spPr>
      </p:pic>
      <p:pic>
        <p:nvPicPr>
          <p:cNvPr id="4" name="Learning curv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000" y="1020000"/>
            <a:ext cx="5650000" cy="4900000"/>
          </a:xfrm>
          <a:prstGeom prst="rect">
            <a:avLst/>
          </a:prstGeom>
        </p:spPr>
      </p:pic>
      <p:sp>
        <p:nvSpPr>
          <p:cNvPr id="5" name="Notes"/>
          <p:cNvSpPr txBox="1"/>
          <p:nvPr/>
        </p:nvSpPr>
        <p:spPr>
          <a:xfrm>
            <a:off x="750000" y="6120000"/>
            <a:ext cx="11900000" cy="7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400"/>
              <a:t>왼쪽: 실제 0과 1의 예측 확률 분포가 겹쳐 모델이 확신 있게 구분하지 못한다.</a:t>
            </a:r>
          </a:p>
          <a:p>
            <a:r>
              <a:rPr lang="ko-KR" sz="1400"/>
              <a:t>오른쪽: 학습 정확도 자체도 높지 않아 과적합보다 언더피팅 성격이 크다.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30000"/>
            <a:ext cx="1255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단계적 성능 개선 실험 상세 설명</a:t>
            </a:r>
          </a:p>
        </p:txBody>
      </p:sp>
      <p:pic>
        <p:nvPicPr>
          <p:cNvPr id="3" name="Metric compari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0" y="930000"/>
            <a:ext cx="7250000" cy="5650000"/>
          </a:xfrm>
          <a:prstGeom prst="rect">
            <a:avLst/>
          </a:prstGeom>
        </p:spPr>
      </p:pic>
      <p:sp>
        <p:nvSpPr>
          <p:cNvPr id="4" name="Explanation"/>
          <p:cNvSpPr txBox="1"/>
          <p:nvPr/>
        </p:nvSpPr>
        <p:spPr>
          <a:xfrm>
            <a:off x="7950000" y="930000"/>
            <a:ext cx="498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300" b="1"/>
              <a:t>이미지에서 볼 것</a:t>
            </a:r>
          </a:p>
          <a:p>
            <a:r>
              <a:rPr lang="ko-KR" sz="1300"/>
              <a:t>Baseline은 Test Accuracy 0.4924, F1 0.4898, ROC-AUC 0.4857이다.</a:t>
            </a:r>
          </a:p>
          <a:p>
            <a:r>
              <a:rPr lang="ko-KR" sz="1300"/>
              <a:t>Step 2는 SelectKBest top12 + C=0.001 + class_weight=balanced를 적용했다.</a:t>
            </a:r>
          </a:p>
          <a:p>
            <a:r>
              <a:rPr lang="ko-KR" sz="1300"/>
              <a:t>Step 2 Test Accuracy는 0.5431, Precision 0.5889, Recall 0.5000, F1 0.5408, ROC-AUC 0.5180이다.</a:t>
            </a:r>
          </a:p>
          <a:p>
            <a:r>
              <a:rPr lang="ko-KR" sz="1300"/>
              <a:t>0.5013은 baseline 교차 검증 평균, 0.5431은 Step 2 Test Set 결과이므로 서로 다른 지표다.</a:t>
            </a:r>
          </a:p>
          <a:p>
            <a:r>
              <a:rPr lang="ko-KR" sz="1300"/>
              <a:t>개선은 있었지만 절대 성능은 여전히 낮아 최종 모델로 쓰기에는 부족하다.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230000"/>
            <a:ext cx="1255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700" b="1"/>
              <a:t>Confusion Matrix 개선 비교 상세 설명</a:t>
            </a:r>
          </a:p>
        </p:txBody>
      </p:sp>
      <p:pic>
        <p:nvPicPr>
          <p:cNvPr id="3" name="Stepwise confusion matri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0" y="930000"/>
            <a:ext cx="7250000" cy="5650000"/>
          </a:xfrm>
          <a:prstGeom prst="rect">
            <a:avLst/>
          </a:prstGeom>
        </p:spPr>
      </p:pic>
      <p:sp>
        <p:nvSpPr>
          <p:cNvPr id="4" name="Explanation"/>
          <p:cNvSpPr txBox="1"/>
          <p:nvPr/>
        </p:nvSpPr>
        <p:spPr>
          <a:xfrm>
            <a:off x="7950000" y="930000"/>
            <a:ext cx="498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300" b="1"/>
              <a:t>이미지에서 볼 것</a:t>
            </a:r>
          </a:p>
          <a:p>
            <a:r>
              <a:rPr lang="ko-KR" sz="1300"/>
              <a:t>Step 1은 Recall이 좋아졌지만 상승으로 많이 예측해 False Positive가 늘었다.</a:t>
            </a:r>
          </a:p>
          <a:p>
            <a:r>
              <a:rPr lang="ko-KR" sz="1300"/>
              <a:t>Step 3은 거의 모든 샘플을 상승으로 예측해 F1은 높아 보이나 실제 구분 능력은 약하다.</a:t>
            </a:r>
          </a:p>
          <a:p>
            <a:r>
              <a:rPr lang="ko-KR" sz="1300"/>
              <a:t>Step 2는 Precision과 Recall의 균형이 상대적으로 좋고 한쪽 클래스로 심하게 치우치지 않는다.</a:t>
            </a:r>
          </a:p>
          <a:p>
            <a:r>
              <a:rPr lang="ko-KR" sz="1300"/>
              <a:t>그래서 Logistic Regression 내부에서는 Step 2가 가장 해석 가능한 개선안이다.</a:t>
            </a:r>
          </a:p>
          <a:p>
            <a:r>
              <a:rPr lang="ko-KR" sz="1300"/>
              <a:t>하지만 ROC-AUC가 0.5180 수준이라 여전히 강한 예측 모델이라고 보기는 어렵다.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후속 개선 방향을 구체적으로 말하면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700" b="1"/>
              <a:t>모델 개선</a:t>
            </a:r>
          </a:p>
          <a:p>
            <a:r>
              <a:rPr lang="ko-KR" sz="1700"/>
              <a:t>Random Forest, XGBoost 같은 비선형 모델을 사용하면 변수 간 복잡한 상호작용을 반영할 수 있다.</a:t>
            </a:r>
          </a:p>
          <a:p>
            <a:r>
              <a:rPr lang="ko-KR" sz="1700"/>
              <a:t>외부 변수 추가</a:t>
            </a:r>
          </a:p>
          <a:p>
            <a:r>
              <a:rPr lang="ko-KR" sz="1700"/>
              <a:t>뉴스 감성: 검색량 증가가 긍정적 관심인지 부정적 불안인지 구분한다.</a:t>
            </a:r>
          </a:p>
          <a:p>
            <a:r>
              <a:rPr lang="ko-KR" sz="1700"/>
              <a:t>시장 지수: 전체 시장이 상승장인지 하락장인지 반영한다.</a:t>
            </a:r>
          </a:p>
          <a:p>
            <a:r>
              <a:rPr lang="ko-KR" sz="1700"/>
              <a:t>환율/금리: 거시경제 환경이 기업 주가에 미치는 영향을 반영한다.</a:t>
            </a:r>
          </a:p>
          <a:p>
            <a:r>
              <a:rPr lang="ko-KR" sz="1700"/>
              <a:t>업종 지수와 실적 발표 여부: 개별 기업 이슈와 산업 흐름을 보완한다.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최종 결론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700" b="1"/>
              <a:t>최종 결론</a:t>
            </a:r>
          </a:p>
          <a:p>
            <a:r>
              <a:rPr lang="ko-KR" sz="1700"/>
              <a:t>Logistic Regression은 해석 가능한 baseline 모델로는 의미가 있다.</a:t>
            </a:r>
          </a:p>
          <a:p>
            <a:r>
              <a:rPr lang="ko-KR" sz="1700"/>
              <a:t>하지만 baseline Test Accuracy 0.4924, ROC-AUC 0.4857로 성능은 낮다.</a:t>
            </a:r>
          </a:p>
          <a:p>
            <a:r>
              <a:rPr lang="ko-KR" sz="1700"/>
              <a:t>Step 2 개선안은 Test Accuracy 0.5431까지 개선되었지만 여전히 충분히 높은 수준은 아니다.</a:t>
            </a:r>
          </a:p>
          <a:p>
            <a:r>
              <a:rPr lang="ko-KR" sz="1700"/>
              <a:t>검색 트렌드 변수는 투자자 관심과 심리를 반영하는 신호로 볼 수 있다.</a:t>
            </a:r>
          </a:p>
          <a:p>
            <a:r>
              <a:rPr lang="ko-KR" sz="1700"/>
              <a:t>그러나 검색량은 긍정/부정 방향성을 구분하지 못하므로 단독 예측 신호로는 한계가 있다.</a:t>
            </a:r>
          </a:p>
          <a:p>
            <a:r>
              <a:rPr lang="ko-KR" sz="1700"/>
              <a:t>검색량은 뉴스 감성, 시장 상황, 가격 추세, 거시경제 변수와 함께 사용할 때 더 의미 있는 지표가 된다.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0000" y="33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발표 때 마지막으로 강조할 문장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130000"/>
            <a:ext cx="11900000" cy="5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000" b="1"/>
              <a:t>마무리 문장</a:t>
            </a:r>
          </a:p>
          <a:p>
            <a:r>
              <a:rPr lang="ko-KR" sz="2000"/>
              <a:t>이번 분석은 검색량이 투자자의 관심과 심리를 반영할 수 있다는 가능성을 보여준다.</a:t>
            </a:r>
          </a:p>
          <a:p>
            <a:r>
              <a:rPr lang="ko-KR" sz="2000"/>
              <a:t>하지만 사람들이 많이 검색했다는 사실만으로 주가가 오른다고 말할 수는 없다.</a:t>
            </a:r>
          </a:p>
          <a:p>
            <a:r>
              <a:rPr lang="ko-KR" sz="2000"/>
              <a:t>검색량은 호재 기대와 악재 불안을 모두 포함하기 때문이다.</a:t>
            </a:r>
          </a:p>
          <a:p>
            <a:r>
              <a:rPr lang="ko-KR" sz="2000"/>
              <a:t>따라서 검색량은 단독 예측 변수라기보다, 뉴스 감성 및 시장 변수와 결합했을 때 의미 있는 심리 지표가 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">
  <a:themeElements>
    <a:clrScheme name="Simple">
      <a:dk1>
        <a:srgbClr val="111111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F97316"/>
      </a:accent2>
      <a:accent3>
        <a:srgbClr val="16A34A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Simple">
      <a:majorFont>
        <a:latin typeface="Aptos Display"/>
        <a:ea typeface="Malgun Gothic"/>
      </a:majorFont>
      <a:minorFont>
        <a:latin typeface="Aptos"/>
        <a:ea typeface="Malgun Gothic"/>
      </a:minorFont>
    </a:fontScheme>
    <a:fmtScheme name="Simpl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28</Slides>
  <Company>Team_1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변수 간 상관관계 및 데이터 특성 시각화</dc:title>
  <dc:creator>Team_1</dc:creator>
  <cp:lastModifiedBy>Codex</cp:lastModifiedBy>
  <dcterms:created xsi:type="dcterms:W3CDTF">2026-06-01T14:27:49Z</dcterms:created>
  <dcterms:modified xsi:type="dcterms:W3CDTF">2026-06-01T14:27:49Z</dcterms:modified>
</cp:coreProperties>
</file>